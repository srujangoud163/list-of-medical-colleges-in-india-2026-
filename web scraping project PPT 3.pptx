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20" name="Shape 120"/>
          <p:cNvSpPr/>
          <p:nvPr>
            <p:ph type="sldImg"/>
          </p:nvPr>
        </p:nvSpPr>
        <p:spPr>
          <a:xfrm>
            <a:off x="1143000" y="685800"/>
            <a:ext cx="4572000" cy="3429000"/>
          </a:xfrm>
          <a:prstGeom prst="rect">
            <a:avLst/>
          </a:prstGeom>
        </p:spPr>
        <p:txBody>
          <a:bodyPr/>
          <a:lstStyle/>
          <a:p>
            <a:pPr/>
          </a:p>
        </p:txBody>
      </p:sp>
      <p:sp>
        <p:nvSpPr>
          <p:cNvPr id="121" name="Shape 121"/>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12" name="Title Text"/>
          <p:cNvSpPr txBox="1"/>
          <p:nvPr>
            <p:ph type="title"/>
          </p:nvPr>
        </p:nvSpPr>
        <p:spPr>
          <a:prstGeom prst="rect">
            <a:avLst/>
          </a:prstGeom>
        </p:spPr>
        <p:txBody>
          <a:bodyPr/>
          <a:lstStyle/>
          <a:p>
            <a:pPr/>
            <a:r>
              <a:t>Title Text</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2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27" name="Title Text"/>
          <p:cNvSpPr txBox="1"/>
          <p:nvPr>
            <p:ph type="title"/>
          </p:nvPr>
        </p:nvSpPr>
        <p:spPr>
          <a:prstGeom prst="rect">
            <a:avLst/>
          </a:prstGeom>
        </p:spPr>
        <p:txBody>
          <a:bodyPr/>
          <a:lstStyle/>
          <a:p>
            <a:pPr/>
            <a:r>
              <a:t>Title Text</a:t>
            </a:r>
          </a:p>
        </p:txBody>
      </p:sp>
      <p:sp>
        <p:nvSpPr>
          <p:cNvPr id="28"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p:spTree>
      <p:nvGrpSpPr>
        <p:cNvPr id="1" name=""/>
        <p:cNvGrpSpPr/>
        <p:nvPr/>
      </p:nvGrpSpPr>
      <p:grpSpPr>
        <a:xfrm>
          <a:off x="0" y="0"/>
          <a:ext cx="0" cy="0"/>
          <a:chOff x="0" y="0"/>
          <a:chExt cx="0" cy="0"/>
        </a:xfrm>
      </p:grpSpPr>
      <p:pic>
        <p:nvPicPr>
          <p:cNvPr id="36" name="Google Shape;20;p7" descr="Google Shape;20;p7"/>
          <p:cNvPicPr>
            <a:picLocks noChangeAspect="1"/>
          </p:cNvPicPr>
          <p:nvPr/>
        </p:nvPicPr>
        <p:blipFill>
          <a:blip r:embed="rId2">
            <a:extLst/>
          </a:blip>
          <a:stretch>
            <a:fillRect/>
          </a:stretch>
        </p:blipFill>
        <p:spPr>
          <a:xfrm>
            <a:off x="8814230" y="6184984"/>
            <a:ext cx="3225400" cy="673018"/>
          </a:xfrm>
          <a:prstGeom prst="rect">
            <a:avLst/>
          </a:prstGeom>
          <a:ln w="12700">
            <a:miter lim="400000"/>
          </a:ln>
        </p:spPr>
      </p:pic>
      <p:sp>
        <p:nvSpPr>
          <p:cNvPr id="37" name="Title Text"/>
          <p:cNvSpPr txBox="1"/>
          <p:nvPr>
            <p:ph type="title"/>
          </p:nvPr>
        </p:nvSpPr>
        <p:spPr>
          <a:xfrm>
            <a:off x="1524000" y="1122362"/>
            <a:ext cx="9144000" cy="2387601"/>
          </a:xfrm>
          <a:prstGeom prst="rect">
            <a:avLst/>
          </a:prstGeom>
        </p:spPr>
        <p:txBody>
          <a:bodyPr anchor="b"/>
          <a:lstStyle>
            <a:lvl1pPr algn="ctr">
              <a:defRPr sz="6000"/>
            </a:lvl1pPr>
          </a:lstStyle>
          <a:p>
            <a:pPr/>
            <a:r>
              <a:t>Title Text</a:t>
            </a:r>
          </a:p>
        </p:txBody>
      </p:sp>
      <p:sp>
        <p:nvSpPr>
          <p:cNvPr id="38" name="Body Level One…"/>
          <p:cNvSpPr txBox="1"/>
          <p:nvPr>
            <p:ph type="body" sz="quarter" idx="1"/>
          </p:nvPr>
        </p:nvSpPr>
        <p:spPr>
          <a:xfrm>
            <a:off x="1524000" y="3602037"/>
            <a:ext cx="9144000" cy="1655764"/>
          </a:xfrm>
          <a:prstGeom prst="rect">
            <a:avLst/>
          </a:prstGeom>
        </p:spPr>
        <p:txBody>
          <a:bodyPr/>
          <a:lstStyle>
            <a:lvl1pPr marL="355600" indent="-304800" algn="ctr">
              <a:buClrTx/>
              <a:buSzTx/>
              <a:buFontTx/>
              <a:buNone/>
              <a:defRPr sz="2400"/>
            </a:lvl1pPr>
            <a:lvl2pPr marL="355600" indent="50800" algn="ctr">
              <a:buClrTx/>
              <a:buSzTx/>
              <a:buFontTx/>
              <a:buNone/>
              <a:defRPr sz="2400"/>
            </a:lvl2pPr>
            <a:lvl3pPr marL="355600" indent="50800" algn="ctr">
              <a:buClrTx/>
              <a:buSzTx/>
              <a:buFontTx/>
              <a:buNone/>
              <a:defRPr sz="2400"/>
            </a:lvl3pPr>
            <a:lvl4pPr marL="355600" indent="50800" algn="ctr">
              <a:buClrTx/>
              <a:buSzTx/>
              <a:buFontTx/>
              <a:buNone/>
              <a:defRPr sz="2400"/>
            </a:lvl4pPr>
            <a:lvl5pPr marL="355600" indent="50800" algn="ctr">
              <a:buClrTx/>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3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HEADER">
    <p:spTree>
      <p:nvGrpSpPr>
        <p:cNvPr id="1" name=""/>
        <p:cNvGrpSpPr/>
        <p:nvPr/>
      </p:nvGrpSpPr>
      <p:grpSpPr>
        <a:xfrm>
          <a:off x="0" y="0"/>
          <a:ext cx="0" cy="0"/>
          <a:chOff x="0" y="0"/>
          <a:chExt cx="0" cy="0"/>
        </a:xfrm>
      </p:grpSpPr>
      <p:pic>
        <p:nvPicPr>
          <p:cNvPr id="46" name="Google Shape;20;p7" descr="Google Shape;20;p7"/>
          <p:cNvPicPr>
            <a:picLocks noChangeAspect="1"/>
          </p:cNvPicPr>
          <p:nvPr/>
        </p:nvPicPr>
        <p:blipFill>
          <a:blip r:embed="rId2">
            <a:extLst/>
          </a:blip>
          <a:stretch>
            <a:fillRect/>
          </a:stretch>
        </p:blipFill>
        <p:spPr>
          <a:xfrm>
            <a:off x="8814230" y="6184984"/>
            <a:ext cx="3225400" cy="673018"/>
          </a:xfrm>
          <a:prstGeom prst="rect">
            <a:avLst/>
          </a:prstGeom>
          <a:ln w="12700">
            <a:miter lim="400000"/>
          </a:ln>
        </p:spPr>
      </p:pic>
      <p:sp>
        <p:nvSpPr>
          <p:cNvPr id="47"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48" name="Body Level One…"/>
          <p:cNvSpPr txBox="1"/>
          <p:nvPr>
            <p:ph type="body" sz="quarter" idx="1"/>
          </p:nvPr>
        </p:nvSpPr>
        <p:spPr>
          <a:xfrm>
            <a:off x="831850" y="4589462"/>
            <a:ext cx="10515600" cy="1500189"/>
          </a:xfrm>
          <a:prstGeom prst="rect">
            <a:avLst/>
          </a:prstGeom>
        </p:spPr>
        <p:txBody>
          <a:bodyPr/>
          <a:lstStyle>
            <a:lvl1pPr marL="0" indent="228600">
              <a:buClrTx/>
              <a:buSzTx/>
              <a:buFontTx/>
              <a:buNone/>
              <a:defRPr sz="2400">
                <a:solidFill>
                  <a:srgbClr val="888888"/>
                </a:solidFill>
              </a:defRPr>
            </a:lvl1pPr>
            <a:lvl2pPr marL="0" indent="228600">
              <a:buClrTx/>
              <a:buSzTx/>
              <a:buFontTx/>
              <a:buNone/>
              <a:defRPr sz="2400">
                <a:solidFill>
                  <a:srgbClr val="888888"/>
                </a:solidFill>
              </a:defRPr>
            </a:lvl2pPr>
            <a:lvl3pPr marL="0" indent="228600">
              <a:buClrTx/>
              <a:buSzTx/>
              <a:buFontTx/>
              <a:buNone/>
              <a:defRPr sz="2400">
                <a:solidFill>
                  <a:srgbClr val="888888"/>
                </a:solidFill>
              </a:defRPr>
            </a:lvl3pPr>
            <a:lvl4pPr marL="0" indent="228600">
              <a:buClrTx/>
              <a:buSzTx/>
              <a:buFontTx/>
              <a:buNone/>
              <a:defRPr sz="2400">
                <a:solidFill>
                  <a:srgbClr val="888888"/>
                </a:solidFill>
              </a:defRPr>
            </a:lvl4pPr>
            <a:lvl5pPr marL="0" indent="228600">
              <a:buClrTx/>
              <a:buSzTx/>
              <a:buFontTx/>
              <a:buNone/>
              <a:defRPr sz="2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
    <p:spTree>
      <p:nvGrpSpPr>
        <p:cNvPr id="1" name=""/>
        <p:cNvGrpSpPr/>
        <p:nvPr/>
      </p:nvGrpSpPr>
      <p:grpSpPr>
        <a:xfrm>
          <a:off x="0" y="0"/>
          <a:ext cx="0" cy="0"/>
          <a:chOff x="0" y="0"/>
          <a:chExt cx="0" cy="0"/>
        </a:xfrm>
      </p:grpSpPr>
      <p:pic>
        <p:nvPicPr>
          <p:cNvPr id="56" name="Google Shape;20;p7" descr="Google Shape;20;p7"/>
          <p:cNvPicPr>
            <a:picLocks noChangeAspect="1"/>
          </p:cNvPicPr>
          <p:nvPr/>
        </p:nvPicPr>
        <p:blipFill>
          <a:blip r:embed="rId2">
            <a:extLst/>
          </a:blip>
          <a:stretch>
            <a:fillRect/>
          </a:stretch>
        </p:blipFill>
        <p:spPr>
          <a:xfrm>
            <a:off x="8814230" y="6184984"/>
            <a:ext cx="3225400" cy="673018"/>
          </a:xfrm>
          <a:prstGeom prst="rect">
            <a:avLst/>
          </a:prstGeom>
          <a:ln w="12700">
            <a:miter lim="400000"/>
          </a:ln>
        </p:spPr>
      </p:pic>
      <p:sp>
        <p:nvSpPr>
          <p:cNvPr id="57" name="Title Text"/>
          <p:cNvSpPr txBox="1"/>
          <p:nvPr>
            <p:ph type="title"/>
          </p:nvPr>
        </p:nvSpPr>
        <p:spPr>
          <a:prstGeom prst="rect">
            <a:avLst/>
          </a:prstGeom>
        </p:spPr>
        <p:txBody>
          <a:bodyPr/>
          <a:lstStyle/>
          <a:p>
            <a:pPr/>
            <a:r>
              <a:t>Title Text</a:t>
            </a:r>
          </a:p>
        </p:txBody>
      </p:sp>
      <p:sp>
        <p:nvSpPr>
          <p:cNvPr id="58"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59" name="Google Shape;50;p12"/>
          <p:cNvSpPr txBox="1"/>
          <p:nvPr>
            <p:ph type="body" sz="half" idx="21"/>
          </p:nvPr>
        </p:nvSpPr>
        <p:spPr>
          <a:xfrm>
            <a:off x="6172200" y="1825625"/>
            <a:ext cx="5181600" cy="4351338"/>
          </a:xfrm>
          <a:prstGeom prst="rect">
            <a:avLst/>
          </a:prstGeom>
        </p:spPr>
        <p:txBody>
          <a:bodyPr/>
          <a:lstStyle/>
          <a:p>
            <a:pPr indent="-406400"/>
          </a:p>
        </p:txBody>
      </p:sp>
      <p:sp>
        <p:nvSpPr>
          <p:cNvPr id="6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_WITH_TEXT">
    <p:spTree>
      <p:nvGrpSpPr>
        <p:cNvPr id="1" name=""/>
        <p:cNvGrpSpPr/>
        <p:nvPr/>
      </p:nvGrpSpPr>
      <p:grpSpPr>
        <a:xfrm>
          <a:off x="0" y="0"/>
          <a:ext cx="0" cy="0"/>
          <a:chOff x="0" y="0"/>
          <a:chExt cx="0" cy="0"/>
        </a:xfrm>
      </p:grpSpPr>
      <p:pic>
        <p:nvPicPr>
          <p:cNvPr id="67" name="Google Shape;20;p7" descr="Google Shape;20;p7"/>
          <p:cNvPicPr>
            <a:picLocks noChangeAspect="1"/>
          </p:cNvPicPr>
          <p:nvPr/>
        </p:nvPicPr>
        <p:blipFill>
          <a:blip r:embed="rId2">
            <a:extLst/>
          </a:blip>
          <a:stretch>
            <a:fillRect/>
          </a:stretch>
        </p:blipFill>
        <p:spPr>
          <a:xfrm>
            <a:off x="8814230" y="6184984"/>
            <a:ext cx="3225400" cy="673018"/>
          </a:xfrm>
          <a:prstGeom prst="rect">
            <a:avLst/>
          </a:prstGeom>
          <a:ln w="12700">
            <a:miter lim="400000"/>
          </a:ln>
        </p:spPr>
      </p:pic>
      <p:sp>
        <p:nvSpPr>
          <p:cNvPr id="68" name="Title Text"/>
          <p:cNvSpPr txBox="1"/>
          <p:nvPr>
            <p:ph type="title"/>
          </p:nvPr>
        </p:nvSpPr>
        <p:spPr>
          <a:xfrm>
            <a:off x="839787" y="365125"/>
            <a:ext cx="10515601" cy="1325563"/>
          </a:xfrm>
          <a:prstGeom prst="rect">
            <a:avLst/>
          </a:prstGeom>
        </p:spPr>
        <p:txBody>
          <a:bodyPr/>
          <a:lstStyle/>
          <a:p>
            <a:pPr/>
            <a:r>
              <a:t>Title Text</a:t>
            </a:r>
          </a:p>
        </p:txBody>
      </p:sp>
      <p:sp>
        <p:nvSpPr>
          <p:cNvPr id="69" name="Body Level One…"/>
          <p:cNvSpPr txBox="1"/>
          <p:nvPr>
            <p:ph type="body" sz="quarter" idx="1"/>
          </p:nvPr>
        </p:nvSpPr>
        <p:spPr>
          <a:xfrm>
            <a:off x="839787" y="1681163"/>
            <a:ext cx="5157790" cy="823914"/>
          </a:xfrm>
          <a:prstGeom prst="rect">
            <a:avLst/>
          </a:prstGeom>
        </p:spPr>
        <p:txBody>
          <a:bodyPr anchor="b"/>
          <a:lstStyle>
            <a:lvl1pPr marL="0" indent="228600">
              <a:buClrTx/>
              <a:buSzTx/>
              <a:buFontTx/>
              <a:buNone/>
              <a:defRPr b="1" sz="2400"/>
            </a:lvl1pPr>
            <a:lvl2pPr marL="0" indent="228600">
              <a:buClrTx/>
              <a:buSzTx/>
              <a:buFontTx/>
              <a:buNone/>
              <a:defRPr b="1" sz="2400"/>
            </a:lvl2pPr>
            <a:lvl3pPr marL="0" indent="228600">
              <a:buClrTx/>
              <a:buSzTx/>
              <a:buFontTx/>
              <a:buNone/>
              <a:defRPr b="1" sz="2400"/>
            </a:lvl3pPr>
            <a:lvl4pPr marL="0" indent="228600">
              <a:buClrTx/>
              <a:buSzTx/>
              <a:buFontTx/>
              <a:buNone/>
              <a:defRPr b="1" sz="2400"/>
            </a:lvl4pPr>
            <a:lvl5pPr marL="0" indent="228600">
              <a:buClrTx/>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70" name="Google Shape;58;p13"/>
          <p:cNvSpPr txBox="1"/>
          <p:nvPr>
            <p:ph type="body" sz="half" idx="21"/>
          </p:nvPr>
        </p:nvSpPr>
        <p:spPr>
          <a:xfrm>
            <a:off x="839787" y="2505075"/>
            <a:ext cx="5157788" cy="3684588"/>
          </a:xfrm>
          <a:prstGeom prst="rect">
            <a:avLst/>
          </a:prstGeom>
        </p:spPr>
        <p:txBody>
          <a:bodyPr/>
          <a:lstStyle/>
          <a:p>
            <a:pPr indent="-406400"/>
          </a:p>
        </p:txBody>
      </p:sp>
      <p:sp>
        <p:nvSpPr>
          <p:cNvPr id="71" name="Google Shape;59;p13"/>
          <p:cNvSpPr txBox="1"/>
          <p:nvPr>
            <p:ph type="body" sz="quarter" idx="22"/>
          </p:nvPr>
        </p:nvSpPr>
        <p:spPr>
          <a:xfrm>
            <a:off x="6172200" y="1681163"/>
            <a:ext cx="5183188" cy="823914"/>
          </a:xfrm>
          <a:prstGeom prst="rect">
            <a:avLst/>
          </a:prstGeom>
        </p:spPr>
        <p:txBody>
          <a:bodyPr anchor="b"/>
          <a:lstStyle/>
          <a:p>
            <a:pPr indent="-406400"/>
          </a:p>
        </p:txBody>
      </p:sp>
      <p:sp>
        <p:nvSpPr>
          <p:cNvPr id="72" name="Google Shape;60;p13"/>
          <p:cNvSpPr txBox="1"/>
          <p:nvPr>
            <p:ph type="body" sz="half" idx="23"/>
          </p:nvPr>
        </p:nvSpPr>
        <p:spPr>
          <a:xfrm>
            <a:off x="6172200" y="2505075"/>
            <a:ext cx="5183188" cy="3684588"/>
          </a:xfrm>
          <a:prstGeom prst="rect">
            <a:avLst/>
          </a:prstGeom>
        </p:spPr>
        <p:txBody>
          <a:bodyPr/>
          <a:lstStyle/>
          <a:p>
            <a:pPr indent="-406400"/>
          </a:p>
        </p:txBody>
      </p:sp>
      <p:sp>
        <p:nvSpPr>
          <p:cNvPr id="7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WITH_CAPTION_TEXT">
    <p:spTree>
      <p:nvGrpSpPr>
        <p:cNvPr id="1" name=""/>
        <p:cNvGrpSpPr/>
        <p:nvPr/>
      </p:nvGrpSpPr>
      <p:grpSpPr>
        <a:xfrm>
          <a:off x="0" y="0"/>
          <a:ext cx="0" cy="0"/>
          <a:chOff x="0" y="0"/>
          <a:chExt cx="0" cy="0"/>
        </a:xfrm>
      </p:grpSpPr>
      <p:pic>
        <p:nvPicPr>
          <p:cNvPr id="80" name="Google Shape;20;p7" descr="Google Shape;20;p7"/>
          <p:cNvPicPr>
            <a:picLocks noChangeAspect="1"/>
          </p:cNvPicPr>
          <p:nvPr/>
        </p:nvPicPr>
        <p:blipFill>
          <a:blip r:embed="rId2">
            <a:extLst/>
          </a:blip>
          <a:stretch>
            <a:fillRect/>
          </a:stretch>
        </p:blipFill>
        <p:spPr>
          <a:xfrm>
            <a:off x="8814230" y="6184984"/>
            <a:ext cx="3225400" cy="673018"/>
          </a:xfrm>
          <a:prstGeom prst="rect">
            <a:avLst/>
          </a:prstGeom>
          <a:ln w="12700">
            <a:miter lim="400000"/>
          </a:ln>
        </p:spPr>
      </p:pic>
      <p:sp>
        <p:nvSpPr>
          <p:cNvPr id="81" name="Title Text"/>
          <p:cNvSpPr txBox="1"/>
          <p:nvPr>
            <p:ph type="title"/>
          </p:nvPr>
        </p:nvSpPr>
        <p:spPr>
          <a:xfrm>
            <a:off x="839787" y="457200"/>
            <a:ext cx="3932240" cy="1600200"/>
          </a:xfrm>
          <a:prstGeom prst="rect">
            <a:avLst/>
          </a:prstGeom>
        </p:spPr>
        <p:txBody>
          <a:bodyPr anchor="b"/>
          <a:lstStyle>
            <a:lvl1pPr>
              <a:defRPr sz="3200"/>
            </a:lvl1pPr>
          </a:lstStyle>
          <a:p>
            <a:pPr/>
            <a:r>
              <a:t>Title Text</a:t>
            </a:r>
          </a:p>
        </p:txBody>
      </p:sp>
      <p:sp>
        <p:nvSpPr>
          <p:cNvPr id="82" name="Body Level One…"/>
          <p:cNvSpPr txBox="1"/>
          <p:nvPr>
            <p:ph type="body" sz="half" idx="1"/>
          </p:nvPr>
        </p:nvSpPr>
        <p:spPr>
          <a:xfrm>
            <a:off x="5183187" y="987425"/>
            <a:ext cx="6172202" cy="4873625"/>
          </a:xfrm>
          <a:prstGeom prst="rect">
            <a:avLst/>
          </a:prstGeom>
        </p:spPr>
        <p:txBody>
          <a:bodyPr/>
          <a:lstStyle>
            <a:lvl1pPr indent="-431800">
              <a:buSzPts val="3200"/>
              <a:defRPr sz="3200"/>
            </a:lvl1pPr>
            <a:lvl2pPr marL="972457" indent="-464457">
              <a:buSzPts val="3200"/>
              <a:defRPr sz="3200"/>
            </a:lvl2pPr>
            <a:lvl3pPr marL="1498600" indent="-508000">
              <a:buSzPts val="3200"/>
              <a:defRPr sz="3200"/>
            </a:lvl3pPr>
            <a:lvl4pPr marL="2042160" indent="-568960">
              <a:buSzPts val="3200"/>
              <a:defRPr sz="3200"/>
            </a:lvl4pPr>
            <a:lvl5pPr marL="2499360" indent="-568960">
              <a:buSzPts val="3200"/>
              <a:defRPr sz="3200"/>
            </a:lvl5pPr>
          </a:lstStyle>
          <a:p>
            <a:pPr/>
            <a:r>
              <a:t>Body Level One</a:t>
            </a:r>
          </a:p>
          <a:p>
            <a:pPr lvl="1"/>
            <a:r>
              <a:t>Body Level Two</a:t>
            </a:r>
          </a:p>
          <a:p>
            <a:pPr lvl="2"/>
            <a:r>
              <a:t>Body Level Three</a:t>
            </a:r>
          </a:p>
          <a:p>
            <a:pPr lvl="3"/>
            <a:r>
              <a:t>Body Level Four</a:t>
            </a:r>
          </a:p>
          <a:p>
            <a:pPr lvl="4"/>
            <a:r>
              <a:t>Body Level Five</a:t>
            </a:r>
          </a:p>
        </p:txBody>
      </p:sp>
      <p:sp>
        <p:nvSpPr>
          <p:cNvPr id="83" name="Google Shape;68;p14"/>
          <p:cNvSpPr txBox="1"/>
          <p:nvPr>
            <p:ph type="body" sz="quarter" idx="21"/>
          </p:nvPr>
        </p:nvSpPr>
        <p:spPr>
          <a:xfrm>
            <a:off x="839787" y="2057400"/>
            <a:ext cx="3932238" cy="3811588"/>
          </a:xfrm>
          <a:prstGeom prst="rect">
            <a:avLst/>
          </a:prstGeom>
        </p:spPr>
        <p:txBody>
          <a:bodyPr/>
          <a:lstStyle/>
          <a:p>
            <a:pPr indent="-406400"/>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_WITH_CAPTION_TEXT">
    <p:spTree>
      <p:nvGrpSpPr>
        <p:cNvPr id="1" name=""/>
        <p:cNvGrpSpPr/>
        <p:nvPr/>
      </p:nvGrpSpPr>
      <p:grpSpPr>
        <a:xfrm>
          <a:off x="0" y="0"/>
          <a:ext cx="0" cy="0"/>
          <a:chOff x="0" y="0"/>
          <a:chExt cx="0" cy="0"/>
        </a:xfrm>
      </p:grpSpPr>
      <p:pic>
        <p:nvPicPr>
          <p:cNvPr id="91" name="Google Shape;20;p7" descr="Google Shape;20;p7"/>
          <p:cNvPicPr>
            <a:picLocks noChangeAspect="1"/>
          </p:cNvPicPr>
          <p:nvPr/>
        </p:nvPicPr>
        <p:blipFill>
          <a:blip r:embed="rId2">
            <a:extLst/>
          </a:blip>
          <a:stretch>
            <a:fillRect/>
          </a:stretch>
        </p:blipFill>
        <p:spPr>
          <a:xfrm>
            <a:off x="8814230" y="6184984"/>
            <a:ext cx="3225400" cy="673018"/>
          </a:xfrm>
          <a:prstGeom prst="rect">
            <a:avLst/>
          </a:prstGeom>
          <a:ln w="12700">
            <a:miter lim="400000"/>
          </a:ln>
        </p:spPr>
      </p:pic>
      <p:sp>
        <p:nvSpPr>
          <p:cNvPr id="92" name="Title Text"/>
          <p:cNvSpPr txBox="1"/>
          <p:nvPr>
            <p:ph type="title"/>
          </p:nvPr>
        </p:nvSpPr>
        <p:spPr>
          <a:xfrm>
            <a:off x="839787" y="457200"/>
            <a:ext cx="3932240" cy="1600200"/>
          </a:xfrm>
          <a:prstGeom prst="rect">
            <a:avLst/>
          </a:prstGeom>
        </p:spPr>
        <p:txBody>
          <a:bodyPr anchor="b"/>
          <a:lstStyle>
            <a:lvl1pPr>
              <a:defRPr sz="3200"/>
            </a:lvl1pPr>
          </a:lstStyle>
          <a:p>
            <a:pPr/>
            <a:r>
              <a:t>Title Text</a:t>
            </a:r>
          </a:p>
        </p:txBody>
      </p:sp>
      <p:sp>
        <p:nvSpPr>
          <p:cNvPr id="93" name="Google Shape;75;p15"/>
          <p:cNvSpPr/>
          <p:nvPr>
            <p:ph type="pic" sz="half" idx="21"/>
          </p:nvPr>
        </p:nvSpPr>
        <p:spPr>
          <a:xfrm>
            <a:off x="5183187" y="987425"/>
            <a:ext cx="6172202" cy="4873625"/>
          </a:xfrm>
          <a:prstGeom prst="rect">
            <a:avLst/>
          </a:prstGeom>
        </p:spPr>
        <p:txBody>
          <a:bodyPr lIns="91439" tIns="45719" rIns="91439" bIns="45719">
            <a:noAutofit/>
          </a:bodyPr>
          <a:lstStyle/>
          <a:p>
            <a:pPr/>
          </a:p>
        </p:txBody>
      </p:sp>
      <p:sp>
        <p:nvSpPr>
          <p:cNvPr id="94" name="Body Level One…"/>
          <p:cNvSpPr txBox="1"/>
          <p:nvPr>
            <p:ph type="body" sz="quarter" idx="1"/>
          </p:nvPr>
        </p:nvSpPr>
        <p:spPr>
          <a:xfrm>
            <a:off x="839787" y="2057400"/>
            <a:ext cx="3932240" cy="3811588"/>
          </a:xfrm>
          <a:prstGeom prst="rect">
            <a:avLst/>
          </a:prstGeom>
        </p:spPr>
        <p:txBody>
          <a:bodyPr/>
          <a:lstStyle>
            <a:lvl1pPr marL="0" indent="228600">
              <a:buClrTx/>
              <a:buSzTx/>
              <a:buFontTx/>
              <a:buNone/>
              <a:defRPr sz="1600"/>
            </a:lvl1pPr>
            <a:lvl2pPr marL="0" indent="228600">
              <a:buClrTx/>
              <a:buSzTx/>
              <a:buFontTx/>
              <a:buNone/>
              <a:defRPr sz="1600"/>
            </a:lvl2pPr>
            <a:lvl3pPr marL="0" indent="228600">
              <a:buClrTx/>
              <a:buSzTx/>
              <a:buFontTx/>
              <a:buNone/>
              <a:defRPr sz="1600"/>
            </a:lvl3pPr>
            <a:lvl4pPr marL="0" indent="228600">
              <a:buClrTx/>
              <a:buSzTx/>
              <a:buFontTx/>
              <a:buNone/>
              <a:defRPr sz="1600"/>
            </a:lvl4pPr>
            <a:lvl5pPr marL="0" indent="228600">
              <a:buClrTx/>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EXT">
    <p:spTree>
      <p:nvGrpSpPr>
        <p:cNvPr id="1" name=""/>
        <p:cNvGrpSpPr/>
        <p:nvPr/>
      </p:nvGrpSpPr>
      <p:grpSpPr>
        <a:xfrm>
          <a:off x="0" y="0"/>
          <a:ext cx="0" cy="0"/>
          <a:chOff x="0" y="0"/>
          <a:chExt cx="0" cy="0"/>
        </a:xfrm>
      </p:grpSpPr>
      <p:pic>
        <p:nvPicPr>
          <p:cNvPr id="102" name="Google Shape;20;p7" descr="Google Shape;20;p7"/>
          <p:cNvPicPr>
            <a:picLocks noChangeAspect="1"/>
          </p:cNvPicPr>
          <p:nvPr/>
        </p:nvPicPr>
        <p:blipFill>
          <a:blip r:embed="rId2">
            <a:extLst/>
          </a:blip>
          <a:stretch>
            <a:fillRect/>
          </a:stretch>
        </p:blipFill>
        <p:spPr>
          <a:xfrm>
            <a:off x="8814230" y="6184984"/>
            <a:ext cx="3225400" cy="673018"/>
          </a:xfrm>
          <a:prstGeom prst="rect">
            <a:avLst/>
          </a:prstGeom>
          <a:ln w="12700">
            <a:miter lim="400000"/>
          </a:ln>
        </p:spPr>
      </p:pic>
      <p:sp>
        <p:nvSpPr>
          <p:cNvPr id="103" name="Title Text"/>
          <p:cNvSpPr txBox="1"/>
          <p:nvPr>
            <p:ph type="title"/>
          </p:nvPr>
        </p:nvSpPr>
        <p:spPr>
          <a:prstGeom prst="rect">
            <a:avLst/>
          </a:prstGeom>
        </p:spPr>
        <p:txBody>
          <a:bodyPr/>
          <a:lstStyle/>
          <a:p>
            <a:pPr/>
            <a:r>
              <a:t>Title Text</a:t>
            </a:r>
          </a:p>
        </p:txBody>
      </p:sp>
      <p:sp>
        <p:nvSpPr>
          <p:cNvPr id="104" name="Body Level One…"/>
          <p:cNvSpPr txBox="1"/>
          <p:nvPr>
            <p:ph type="body" idx="1"/>
          </p:nvPr>
        </p:nvSpPr>
        <p:spPr>
          <a:xfrm rot="5400000">
            <a:off x="3920330" y="-1256506"/>
            <a:ext cx="4351340" cy="105156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0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ITLE_AND_VERTICAL_TEXT">
    <p:spTree>
      <p:nvGrpSpPr>
        <p:cNvPr id="1" name=""/>
        <p:cNvGrpSpPr/>
        <p:nvPr/>
      </p:nvGrpSpPr>
      <p:grpSpPr>
        <a:xfrm>
          <a:off x="0" y="0"/>
          <a:ext cx="0" cy="0"/>
          <a:chOff x="0" y="0"/>
          <a:chExt cx="0" cy="0"/>
        </a:xfrm>
      </p:grpSpPr>
      <p:sp>
        <p:nvSpPr>
          <p:cNvPr id="112" name="Title Text"/>
          <p:cNvSpPr txBox="1"/>
          <p:nvPr>
            <p:ph type="title"/>
          </p:nvPr>
        </p:nvSpPr>
        <p:spPr>
          <a:xfrm rot="5400000">
            <a:off x="7133431" y="1956592"/>
            <a:ext cx="5811840" cy="2628902"/>
          </a:xfrm>
          <a:prstGeom prst="rect">
            <a:avLst/>
          </a:prstGeom>
        </p:spPr>
        <p:txBody>
          <a:bodyPr/>
          <a:lstStyle/>
          <a:p>
            <a:pPr/>
            <a:r>
              <a:t>Title Text</a:t>
            </a:r>
          </a:p>
        </p:txBody>
      </p:sp>
      <p:sp>
        <p:nvSpPr>
          <p:cNvPr id="113" name="Body Level One…"/>
          <p:cNvSpPr txBox="1"/>
          <p:nvPr>
            <p:ph type="body" idx="1"/>
          </p:nvPr>
        </p:nvSpPr>
        <p:spPr>
          <a:xfrm rot="5400000">
            <a:off x="1799431" y="-596107"/>
            <a:ext cx="5811838" cy="77343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pic>
        <p:nvPicPr>
          <p:cNvPr id="2" name="Google Shape;20;p7" descr="Google Shape;20;p7"/>
          <p:cNvPicPr>
            <a:picLocks noChangeAspect="1"/>
          </p:cNvPicPr>
          <p:nvPr/>
        </p:nvPicPr>
        <p:blipFill>
          <a:blip r:embed="rId2">
            <a:extLst/>
          </a:blip>
          <a:stretch>
            <a:fillRect/>
          </a:stretch>
        </p:blipFill>
        <p:spPr>
          <a:xfrm>
            <a:off x="8814230" y="6184984"/>
            <a:ext cx="3225400" cy="673018"/>
          </a:xfrm>
          <a:prstGeom prst="rect">
            <a:avLst/>
          </a:prstGeom>
          <a:ln w="12700">
            <a:miter lim="400000"/>
          </a:ln>
        </p:spPr>
      </p:pic>
      <p:sp>
        <p:nvSpPr>
          <p:cNvPr id="3"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4"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5" name="Slide Number"/>
          <p:cNvSpPr txBox="1"/>
          <p:nvPr>
            <p:ph type="sldNum" sz="quarter" idx="2"/>
          </p:nvPr>
        </p:nvSpPr>
        <p:spPr>
          <a:xfrm>
            <a:off x="11095219" y="6414781"/>
            <a:ext cx="258582" cy="248263"/>
          </a:xfrm>
          <a:prstGeom prst="rect">
            <a:avLst/>
          </a:prstGeom>
          <a:ln w="12700">
            <a:miter lim="400000"/>
          </a:ln>
        </p:spPr>
        <p:txBody>
          <a:bodyPr wrap="none" lIns="45699" tIns="45699" rIns="45699" bIns="45699" anchor="ctr">
            <a:spAutoFit/>
          </a:bodyPr>
          <a:lstStyle>
            <a:lvl1pPr algn="r">
              <a:defRPr sz="1200">
                <a:solidFill>
                  <a:srgbClr val="888888"/>
                </a:solidFill>
                <a:latin typeface="Calibri"/>
                <a:ea typeface="Calibri"/>
                <a:cs typeface="Calibri"/>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9pPr>
    </p:titleStyle>
    <p:bodyStyle>
      <a:lvl1pPr marL="457200" marR="0" indent="-3429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1pPr>
      <a:lvl2pPr marL="971550" marR="0" indent="-40005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2pPr>
      <a:lvl3pPr marL="1508760" marR="0" indent="-48006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3pPr>
      <a:lvl4pPr marL="20193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4pPr>
      <a:lvl5pPr marL="24765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5pPr>
      <a:lvl6pPr marL="29337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6pPr>
      <a:lvl7pPr marL="33909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7pPr>
      <a:lvl8pPr marL="38481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8pPr>
      <a:lvl9pPr marL="43053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indiaccess.com" TargetMode="Externa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15.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23" name="Google Shape;98;p1" descr="Google Shape;98;p1"/>
          <p:cNvPicPr>
            <a:picLocks noChangeAspect="1"/>
          </p:cNvPicPr>
          <p:nvPr/>
        </p:nvPicPr>
        <p:blipFill>
          <a:blip r:embed="rId2">
            <a:extLst/>
          </a:blip>
          <a:stretch>
            <a:fillRect/>
          </a:stretch>
        </p:blipFill>
        <p:spPr>
          <a:xfrm>
            <a:off x="9525" y="-432981"/>
            <a:ext cx="12190815" cy="6694100"/>
          </a:xfrm>
          <a:prstGeom prst="rect">
            <a:avLst/>
          </a:prstGeom>
          <a:ln w="12700">
            <a:miter lim="400000"/>
          </a:ln>
        </p:spPr>
      </p:pic>
      <p:sp>
        <p:nvSpPr>
          <p:cNvPr id="124" name="Google Shape;99;p1"/>
          <p:cNvSpPr txBox="1"/>
          <p:nvPr/>
        </p:nvSpPr>
        <p:spPr>
          <a:xfrm>
            <a:off x="1933148" y="3717985"/>
            <a:ext cx="8166432" cy="63693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defTabSz="457200">
              <a:defRPr sz="3600">
                <a:solidFill>
                  <a:srgbClr val="333333"/>
                </a:solidFill>
                <a:latin typeface="Helvetica Neue Medium"/>
                <a:ea typeface="Helvetica Neue Medium"/>
                <a:cs typeface="Helvetica Neue Medium"/>
                <a:sym typeface="Helvetica Neue Medium"/>
              </a:defRPr>
            </a:lvl1pPr>
          </a:lstStyle>
          <a:p>
            <a:pPr/>
            <a:r>
              <a:t>List of Medical colleges in India 2026</a:t>
            </a:r>
          </a:p>
        </p:txBody>
      </p:sp>
      <p:sp>
        <p:nvSpPr>
          <p:cNvPr id="125" name="TextBox 1"/>
          <p:cNvSpPr txBox="1"/>
          <p:nvPr/>
        </p:nvSpPr>
        <p:spPr>
          <a:xfrm>
            <a:off x="8867747" y="5320008"/>
            <a:ext cx="2368428" cy="88406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1800">
                <a:solidFill>
                  <a:srgbClr val="FF0000"/>
                </a:solidFill>
              </a:defRPr>
            </a:pPr>
            <a:r>
              <a:t>Presented by </a:t>
            </a:r>
            <a:r>
              <a:rPr>
                <a:solidFill>
                  <a:srgbClr val="000000"/>
                </a:solidFill>
              </a:rPr>
              <a:t>:</a:t>
            </a:r>
          </a:p>
          <a:p>
            <a:pPr>
              <a:defRPr b="1" sz="1800"/>
            </a:pPr>
            <a:r>
              <a:t>B.Srujan Goud</a:t>
            </a:r>
          </a:p>
          <a:p>
            <a:pPr>
              <a:defRPr b="1" sz="1800">
                <a:solidFill>
                  <a:srgbClr val="FF0000"/>
                </a:solidFill>
              </a:defRPr>
            </a:pPr>
            <a:r>
              <a:t>Batch No </a:t>
            </a:r>
            <a:r>
              <a:rPr>
                <a:solidFill>
                  <a:srgbClr val="000000"/>
                </a:solidFill>
              </a:rPr>
              <a:t>: 504</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124"/>
                                        </p:tgtEl>
                                        <p:attrNameLst>
                                          <p:attrName>style.visibility</p:attrName>
                                        </p:attrNameLst>
                                      </p:cBhvr>
                                      <p:to>
                                        <p:strVal val="visible"/>
                                      </p:to>
                                    </p:set>
                                    <p:anim calcmode="lin" valueType="num">
                                      <p:cBhvr>
                                        <p:cTn id="7" dur="500" fill="hold"/>
                                        <p:tgtEl>
                                          <p:spTgt spid="124"/>
                                        </p:tgtEl>
                                        <p:attrNameLst>
                                          <p:attrName>ppt_w</p:attrName>
                                        </p:attrNameLst>
                                      </p:cBhvr>
                                      <p:tavLst>
                                        <p:tav tm="0">
                                          <p:val>
                                            <p:fltVal val="0"/>
                                          </p:val>
                                        </p:tav>
                                        <p:tav tm="100000">
                                          <p:val>
                                            <p:strVal val="#ppt_w"/>
                                          </p:val>
                                        </p:tav>
                                      </p:tavLst>
                                    </p:anim>
                                    <p:anim calcmode="lin" valueType="num">
                                      <p:cBhvr>
                                        <p:cTn id="8" dur="500" fill="hold"/>
                                        <p:tgtEl>
                                          <p:spTgt spid="12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4" grpId="1"/>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 name="Google Shape;104;p3"/>
          <p:cNvSpPr txBox="1"/>
          <p:nvPr/>
        </p:nvSpPr>
        <p:spPr>
          <a:xfrm>
            <a:off x="177093" y="1234501"/>
            <a:ext cx="12021178" cy="3381530"/>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marL="285750" indent="-323850" algn="just">
              <a:buClr>
                <a:srgbClr val="000000"/>
              </a:buClr>
              <a:buSzPts val="2200"/>
              <a:buFont typeface="Arial"/>
              <a:buChar char="•"/>
              <a:defRPr b="1" sz="2200">
                <a:solidFill>
                  <a:srgbClr val="FF0000"/>
                </a:solidFill>
                <a:latin typeface="Times New Roman"/>
                <a:ea typeface="Times New Roman"/>
                <a:cs typeface="Times New Roman"/>
                <a:sym typeface="Times New Roman"/>
              </a:defRPr>
            </a:pPr>
            <a:r>
              <a:t>Background: </a:t>
            </a:r>
          </a:p>
          <a:p>
            <a:pPr lvl="2" algn="just">
              <a:defRPr b="1" sz="2200">
                <a:solidFill>
                  <a:srgbClr val="FF0000"/>
                </a:solidFill>
                <a:latin typeface="Times New Roman"/>
                <a:ea typeface="Times New Roman"/>
                <a:cs typeface="Times New Roman"/>
                <a:sym typeface="Times New Roman"/>
              </a:defRPr>
            </a:pPr>
            <a:r>
              <a:t>	</a:t>
            </a:r>
            <a:r>
              <a:rPr>
                <a:solidFill>
                  <a:srgbClr val="000000"/>
                </a:solidFill>
              </a:rPr>
              <a:t>I completed my Bachelor of Technology in CSE [AI-ML] from Nalla Malla Reddy Engineering College </a:t>
            </a:r>
          </a:p>
          <a:p>
            <a:pPr lvl="2" marL="342899" indent="-342899" algn="just">
              <a:buClr>
                <a:srgbClr val="000000"/>
              </a:buClr>
              <a:buSzPts val="2200"/>
              <a:buFont typeface="Arial"/>
              <a:buChar char="•"/>
              <a:defRPr b="1" sz="2200">
                <a:solidFill>
                  <a:srgbClr val="FF0000"/>
                </a:solidFill>
                <a:latin typeface="Times New Roman"/>
                <a:ea typeface="Times New Roman"/>
                <a:cs typeface="Times New Roman"/>
                <a:sym typeface="Times New Roman"/>
              </a:defRPr>
            </a:pPr>
            <a:r>
              <a:t>Why you want to learn Data Science:</a:t>
            </a:r>
          </a:p>
          <a:p>
            <a:pPr lvl="3" indent="914400" algn="just">
              <a:defRPr b="1" sz="2200">
                <a:latin typeface="Times New Roman"/>
                <a:ea typeface="Times New Roman"/>
                <a:cs typeface="Times New Roman"/>
                <a:sym typeface="Times New Roman"/>
              </a:defRPr>
            </a:pPr>
            <a:r>
              <a:t>I want to learn data science to improve my skills and get high payeable job.</a:t>
            </a:r>
          </a:p>
          <a:p>
            <a:pPr marL="285750" indent="-323850" algn="just">
              <a:buClr>
                <a:srgbClr val="000000"/>
              </a:buClr>
              <a:buSzPts val="2200"/>
              <a:buFont typeface="Arial"/>
              <a:buChar char="•"/>
              <a:defRPr b="1" sz="2200">
                <a:solidFill>
                  <a:srgbClr val="FF0000"/>
                </a:solidFill>
                <a:latin typeface="Times New Roman"/>
                <a:ea typeface="Times New Roman"/>
                <a:cs typeface="Times New Roman"/>
                <a:sym typeface="Times New Roman"/>
              </a:defRPr>
            </a:pPr>
            <a:r>
              <a:t>Any work experience:</a:t>
            </a:r>
          </a:p>
          <a:p>
            <a:pPr lvl="1" algn="just">
              <a:defRPr b="1" sz="2200">
                <a:solidFill>
                  <a:srgbClr val="FF0000"/>
                </a:solidFill>
                <a:latin typeface="Times New Roman"/>
                <a:ea typeface="Times New Roman"/>
                <a:cs typeface="Times New Roman"/>
                <a:sym typeface="Times New Roman"/>
              </a:defRPr>
            </a:pPr>
            <a:r>
              <a:t>	</a:t>
            </a:r>
            <a:r>
              <a:rPr>
                <a:solidFill>
                  <a:srgbClr val="000000"/>
                </a:solidFill>
              </a:rPr>
              <a:t>So, far I have no experience </a:t>
            </a:r>
          </a:p>
          <a:p>
            <a:pPr marL="285750" indent="-323850" algn="just">
              <a:buClr>
                <a:srgbClr val="000000"/>
              </a:buClr>
              <a:buSzPts val="2200"/>
              <a:buFont typeface="Calibri"/>
              <a:buChar char="•"/>
              <a:defRPr b="1" sz="2200">
                <a:solidFill>
                  <a:srgbClr val="FF0000"/>
                </a:solidFill>
                <a:latin typeface="Times New Roman"/>
                <a:ea typeface="Times New Roman"/>
                <a:cs typeface="Times New Roman"/>
                <a:sym typeface="Times New Roman"/>
              </a:defRPr>
            </a:pPr>
            <a:r>
              <a:t>LinkedIn : </a:t>
            </a:r>
            <a:r>
              <a:rPr>
                <a:solidFill>
                  <a:srgbClr val="050101"/>
                </a:solidFill>
              </a:rPr>
              <a:t>https://www.linkedin.com/in/baddam-srujan-goud-247798392?utm_source=share_via&amp;utm_content=profile&amp;utm_medium=member_android</a:t>
            </a:r>
            <a:endParaRPr>
              <a:solidFill>
                <a:srgbClr val="050101"/>
              </a:solidFill>
            </a:endParaRPr>
          </a:p>
          <a:p>
            <a:pPr marL="285750" indent="-323850" algn="just">
              <a:buClr>
                <a:srgbClr val="000000"/>
              </a:buClr>
              <a:buSzPts val="2200"/>
              <a:buFont typeface="Calibri"/>
              <a:buChar char="•"/>
              <a:defRPr b="1" sz="2200">
                <a:solidFill>
                  <a:srgbClr val="FF0000"/>
                </a:solidFill>
                <a:latin typeface="Times New Roman"/>
                <a:ea typeface="Times New Roman"/>
                <a:cs typeface="Times New Roman"/>
                <a:sym typeface="Times New Roman"/>
              </a:defRPr>
            </a:pPr>
            <a:r>
              <a:t>GitHub : </a:t>
            </a:r>
            <a:r>
              <a:rPr>
                <a:solidFill>
                  <a:srgbClr val="090201"/>
                </a:solidFill>
              </a:rPr>
              <a:t>https://github.com/Srujangoud163</a:t>
            </a:r>
          </a:p>
        </p:txBody>
      </p:sp>
      <p:sp>
        <p:nvSpPr>
          <p:cNvPr id="128" name="Google Shape;105;p3"/>
          <p:cNvSpPr txBox="1"/>
          <p:nvPr/>
        </p:nvSpPr>
        <p:spPr>
          <a:xfrm>
            <a:off x="473379" y="416553"/>
            <a:ext cx="6008154" cy="66671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nSpc>
                <a:spcPct val="80000"/>
              </a:lnSpc>
              <a:defRPr b="1" sz="4000" u="sng">
                <a:solidFill>
                  <a:srgbClr val="FF0000"/>
                </a:solidFill>
                <a:latin typeface="Times New Roman"/>
                <a:ea typeface="Times New Roman"/>
                <a:cs typeface="Times New Roman"/>
                <a:sym typeface="Times New Roman"/>
              </a:defRPr>
            </a:pPr>
            <a:r>
              <a:t>About</a:t>
            </a:r>
            <a:r>
              <a:rPr b="0" sz="3200"/>
              <a:t> ME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128"/>
                                        </p:tgtEl>
                                        <p:attrNameLst>
                                          <p:attrName>style.visibility</p:attrName>
                                        </p:attrNameLst>
                                      </p:cBhvr>
                                      <p:to>
                                        <p:strVal val="visible"/>
                                      </p:to>
                                    </p:set>
                                    <p:animEffect filter="wipe(left)" transition="in">
                                      <p:cBhvr>
                                        <p:cTn id="7" dur="500"/>
                                        <p:tgtEl>
                                          <p:spTgt spid="128"/>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4" presetID="2" grpId="2" fill="hold">
                                  <p:stCondLst>
                                    <p:cond delay="0"/>
                                  </p:stCondLst>
                                  <p:iterate type="el" backwards="0">
                                    <p:tmAbs val="0"/>
                                  </p:iterate>
                                  <p:childTnLst>
                                    <p:set>
                                      <p:cBhvr>
                                        <p:cTn id="11" fill="hold"/>
                                        <p:tgtEl>
                                          <p:spTgt spid="127">
                                            <p:bg/>
                                          </p:spTgt>
                                        </p:tgtEl>
                                        <p:attrNameLst>
                                          <p:attrName>style.visibility</p:attrName>
                                        </p:attrNameLst>
                                      </p:cBhvr>
                                      <p:to>
                                        <p:strVal val="visible"/>
                                      </p:to>
                                    </p:set>
                                    <p:anim calcmode="lin" valueType="num">
                                      <p:cBhvr>
                                        <p:cTn id="12" dur="1000" fill="hold"/>
                                        <p:tgtEl>
                                          <p:spTgt spid="127">
                                            <p:bg/>
                                          </p:spTgt>
                                        </p:tgtEl>
                                        <p:attrNameLst>
                                          <p:attrName>ppt_x</p:attrName>
                                        </p:attrNameLst>
                                      </p:cBhvr>
                                      <p:tavLst>
                                        <p:tav tm="0">
                                          <p:val>
                                            <p:strVal val="#ppt_x"/>
                                          </p:val>
                                        </p:tav>
                                        <p:tav tm="100000">
                                          <p:val>
                                            <p:strVal val="#ppt_x"/>
                                          </p:val>
                                        </p:tav>
                                      </p:tavLst>
                                    </p:anim>
                                    <p:anim calcmode="lin" valueType="num">
                                      <p:cBhvr>
                                        <p:cTn id="13" dur="1000" fill="hold"/>
                                        <p:tgtEl>
                                          <p:spTgt spid="127">
                                            <p:bg/>
                                          </p:spTgt>
                                        </p:tgtEl>
                                        <p:attrNameLst>
                                          <p:attrName>ppt_y</p:attrName>
                                        </p:attrNameLst>
                                      </p:cBhvr>
                                      <p:tavLst>
                                        <p:tav tm="0">
                                          <p:val>
                                            <p:strVal val="1+#ppt_h/2"/>
                                          </p:val>
                                        </p:tav>
                                        <p:tav tm="100000">
                                          <p:val>
                                            <p:strVal val="#ppt_y"/>
                                          </p:val>
                                        </p:tav>
                                      </p:tavLst>
                                    </p:anim>
                                  </p:childTnLst>
                                </p:cTn>
                              </p:par>
                              <p:par>
                                <p:cTn id="14" presetClass="entr" nodeType="withEffect" presetSubtype="4" presetID="2" grpId="2" fill="hold">
                                  <p:stCondLst>
                                    <p:cond delay="0"/>
                                  </p:stCondLst>
                                  <p:iterate type="el" backwards="0">
                                    <p:tmAbs val="0"/>
                                  </p:iterate>
                                  <p:childTnLst>
                                    <p:set>
                                      <p:cBhvr>
                                        <p:cTn id="15" fill="hold"/>
                                        <p:tgtEl>
                                          <p:spTgt spid="127">
                                            <p:txEl>
                                              <p:pRg st="0" end="0"/>
                                            </p:txEl>
                                          </p:spTgt>
                                        </p:tgtEl>
                                        <p:attrNameLst>
                                          <p:attrName>style.visibility</p:attrName>
                                        </p:attrNameLst>
                                      </p:cBhvr>
                                      <p:to>
                                        <p:strVal val="visible"/>
                                      </p:to>
                                    </p:set>
                                    <p:anim calcmode="lin" valueType="num">
                                      <p:cBhvr>
                                        <p:cTn id="16" dur="1000" fill="hold"/>
                                        <p:tgtEl>
                                          <p:spTgt spid="127">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127">
                                            <p:txEl>
                                              <p:pRg st="0" end="0"/>
                                            </p:txEl>
                                          </p:spTgt>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Class="entr" nodeType="afterEffect" presetSubtype="4" presetID="2" grpId="2" fill="hold">
                                  <p:stCondLst>
                                    <p:cond delay="0"/>
                                  </p:stCondLst>
                                  <p:iterate type="el" backwards="0">
                                    <p:tmAbs val="0"/>
                                  </p:iterate>
                                  <p:childTnLst>
                                    <p:set>
                                      <p:cBhvr>
                                        <p:cTn id="20" fill="hold"/>
                                        <p:tgtEl>
                                          <p:spTgt spid="127">
                                            <p:txEl>
                                              <p:pRg st="1" end="1"/>
                                            </p:txEl>
                                          </p:spTgt>
                                        </p:tgtEl>
                                        <p:attrNameLst>
                                          <p:attrName>style.visibility</p:attrName>
                                        </p:attrNameLst>
                                      </p:cBhvr>
                                      <p:to>
                                        <p:strVal val="visible"/>
                                      </p:to>
                                    </p:set>
                                    <p:anim calcmode="lin" valueType="num">
                                      <p:cBhvr>
                                        <p:cTn id="21" dur="1000" fill="hold"/>
                                        <p:tgtEl>
                                          <p:spTgt spid="127">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127">
                                            <p:txEl>
                                              <p:pRg st="1" end="1"/>
                                            </p:txEl>
                                          </p:spTgt>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Class="entr" nodeType="afterEffect" presetSubtype="4" presetID="2" grpId="2" fill="hold">
                                  <p:stCondLst>
                                    <p:cond delay="0"/>
                                  </p:stCondLst>
                                  <p:iterate type="el" backwards="0">
                                    <p:tmAbs val="0"/>
                                  </p:iterate>
                                  <p:childTnLst>
                                    <p:set>
                                      <p:cBhvr>
                                        <p:cTn id="25" fill="hold"/>
                                        <p:tgtEl>
                                          <p:spTgt spid="127">
                                            <p:txEl>
                                              <p:pRg st="2" end="2"/>
                                            </p:txEl>
                                          </p:spTgt>
                                        </p:tgtEl>
                                        <p:attrNameLst>
                                          <p:attrName>style.visibility</p:attrName>
                                        </p:attrNameLst>
                                      </p:cBhvr>
                                      <p:to>
                                        <p:strVal val="visible"/>
                                      </p:to>
                                    </p:set>
                                    <p:anim calcmode="lin" valueType="num">
                                      <p:cBhvr>
                                        <p:cTn id="26" dur="1000" fill="hold"/>
                                        <p:tgtEl>
                                          <p:spTgt spid="127">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127">
                                            <p:txEl>
                                              <p:pRg st="2" end="2"/>
                                            </p:txEl>
                                          </p:spTgt>
                                        </p:tgtEl>
                                        <p:attrNameLst>
                                          <p:attrName>ppt_y</p:attrName>
                                        </p:attrNameLst>
                                      </p:cBhvr>
                                      <p:tavLst>
                                        <p:tav tm="0">
                                          <p:val>
                                            <p:strVal val="1+#ppt_h/2"/>
                                          </p:val>
                                        </p:tav>
                                        <p:tav tm="100000">
                                          <p:val>
                                            <p:strVal val="#ppt_y"/>
                                          </p:val>
                                        </p:tav>
                                      </p:tavLst>
                                    </p:anim>
                                  </p:childTnLst>
                                </p:cTn>
                              </p:par>
                            </p:childTnLst>
                          </p:cTn>
                        </p:par>
                        <p:par>
                          <p:cTn id="28" fill="hold">
                            <p:stCondLst>
                              <p:cond delay="3000"/>
                            </p:stCondLst>
                            <p:childTnLst>
                              <p:par>
                                <p:cTn id="29" presetClass="entr" nodeType="afterEffect" presetSubtype="4" presetID="2" grpId="2" fill="hold">
                                  <p:stCondLst>
                                    <p:cond delay="0"/>
                                  </p:stCondLst>
                                  <p:iterate type="el" backwards="0">
                                    <p:tmAbs val="0"/>
                                  </p:iterate>
                                  <p:childTnLst>
                                    <p:set>
                                      <p:cBhvr>
                                        <p:cTn id="30" fill="hold"/>
                                        <p:tgtEl>
                                          <p:spTgt spid="127">
                                            <p:txEl>
                                              <p:pRg st="3" end="3"/>
                                            </p:txEl>
                                          </p:spTgt>
                                        </p:tgtEl>
                                        <p:attrNameLst>
                                          <p:attrName>style.visibility</p:attrName>
                                        </p:attrNameLst>
                                      </p:cBhvr>
                                      <p:to>
                                        <p:strVal val="visible"/>
                                      </p:to>
                                    </p:set>
                                    <p:anim calcmode="lin" valueType="num">
                                      <p:cBhvr>
                                        <p:cTn id="31" dur="1000" fill="hold"/>
                                        <p:tgtEl>
                                          <p:spTgt spid="127">
                                            <p:txEl>
                                              <p:pRg st="3" end="3"/>
                                            </p:txEl>
                                          </p:spTgt>
                                        </p:tgtEl>
                                        <p:attrNameLst>
                                          <p:attrName>ppt_x</p:attrName>
                                        </p:attrNameLst>
                                      </p:cBhvr>
                                      <p:tavLst>
                                        <p:tav tm="0">
                                          <p:val>
                                            <p:strVal val="#ppt_x"/>
                                          </p:val>
                                        </p:tav>
                                        <p:tav tm="100000">
                                          <p:val>
                                            <p:strVal val="#ppt_x"/>
                                          </p:val>
                                        </p:tav>
                                      </p:tavLst>
                                    </p:anim>
                                    <p:anim calcmode="lin" valueType="num">
                                      <p:cBhvr>
                                        <p:cTn id="32" dur="1000" fill="hold"/>
                                        <p:tgtEl>
                                          <p:spTgt spid="127">
                                            <p:txEl>
                                              <p:pRg st="3" end="3"/>
                                            </p:txEl>
                                          </p:spTgt>
                                        </p:tgtEl>
                                        <p:attrNameLst>
                                          <p:attrName>ppt_y</p:attrName>
                                        </p:attrNameLst>
                                      </p:cBhvr>
                                      <p:tavLst>
                                        <p:tav tm="0">
                                          <p:val>
                                            <p:strVal val="1+#ppt_h/2"/>
                                          </p:val>
                                        </p:tav>
                                        <p:tav tm="100000">
                                          <p:val>
                                            <p:strVal val="#ppt_y"/>
                                          </p:val>
                                        </p:tav>
                                      </p:tavLst>
                                    </p:anim>
                                  </p:childTnLst>
                                </p:cTn>
                              </p:par>
                            </p:childTnLst>
                          </p:cTn>
                        </p:par>
                        <p:par>
                          <p:cTn id="33" fill="hold">
                            <p:stCondLst>
                              <p:cond delay="4000"/>
                            </p:stCondLst>
                            <p:childTnLst>
                              <p:par>
                                <p:cTn id="34" presetClass="entr" nodeType="afterEffect" presetSubtype="4" presetID="2" grpId="2" fill="hold">
                                  <p:stCondLst>
                                    <p:cond delay="0"/>
                                  </p:stCondLst>
                                  <p:iterate type="el" backwards="0">
                                    <p:tmAbs val="0"/>
                                  </p:iterate>
                                  <p:childTnLst>
                                    <p:set>
                                      <p:cBhvr>
                                        <p:cTn id="35" fill="hold"/>
                                        <p:tgtEl>
                                          <p:spTgt spid="127">
                                            <p:txEl>
                                              <p:pRg st="4" end="4"/>
                                            </p:txEl>
                                          </p:spTgt>
                                        </p:tgtEl>
                                        <p:attrNameLst>
                                          <p:attrName>style.visibility</p:attrName>
                                        </p:attrNameLst>
                                      </p:cBhvr>
                                      <p:to>
                                        <p:strVal val="visible"/>
                                      </p:to>
                                    </p:set>
                                    <p:anim calcmode="lin" valueType="num">
                                      <p:cBhvr>
                                        <p:cTn id="36" dur="1000" fill="hold"/>
                                        <p:tgtEl>
                                          <p:spTgt spid="12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27">
                                            <p:txEl>
                                              <p:pRg st="4" end="4"/>
                                            </p:txEl>
                                          </p:spTgt>
                                        </p:tgtEl>
                                        <p:attrNameLst>
                                          <p:attrName>ppt_y</p:attrName>
                                        </p:attrNameLst>
                                      </p:cBhvr>
                                      <p:tavLst>
                                        <p:tav tm="0">
                                          <p:val>
                                            <p:strVal val="1+#ppt_h/2"/>
                                          </p:val>
                                        </p:tav>
                                        <p:tav tm="100000">
                                          <p:val>
                                            <p:strVal val="#ppt_y"/>
                                          </p:val>
                                        </p:tav>
                                      </p:tavLst>
                                    </p:anim>
                                  </p:childTnLst>
                                </p:cTn>
                              </p:par>
                            </p:childTnLst>
                          </p:cTn>
                        </p:par>
                        <p:par>
                          <p:cTn id="38" fill="hold">
                            <p:stCondLst>
                              <p:cond delay="5000"/>
                            </p:stCondLst>
                            <p:childTnLst>
                              <p:par>
                                <p:cTn id="39" presetClass="entr" nodeType="afterEffect" presetSubtype="4" presetID="2" grpId="2" fill="hold">
                                  <p:stCondLst>
                                    <p:cond delay="0"/>
                                  </p:stCondLst>
                                  <p:iterate type="el" backwards="0">
                                    <p:tmAbs val="0"/>
                                  </p:iterate>
                                  <p:childTnLst>
                                    <p:set>
                                      <p:cBhvr>
                                        <p:cTn id="40" fill="hold"/>
                                        <p:tgtEl>
                                          <p:spTgt spid="127">
                                            <p:txEl>
                                              <p:pRg st="5" end="5"/>
                                            </p:txEl>
                                          </p:spTgt>
                                        </p:tgtEl>
                                        <p:attrNameLst>
                                          <p:attrName>style.visibility</p:attrName>
                                        </p:attrNameLst>
                                      </p:cBhvr>
                                      <p:to>
                                        <p:strVal val="visible"/>
                                      </p:to>
                                    </p:set>
                                    <p:anim calcmode="lin" valueType="num">
                                      <p:cBhvr>
                                        <p:cTn id="41" dur="1000" fill="hold"/>
                                        <p:tgtEl>
                                          <p:spTgt spid="127">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127">
                                            <p:txEl>
                                              <p:pRg st="5" end="5"/>
                                            </p:txEl>
                                          </p:spTgt>
                                        </p:tgtEl>
                                        <p:attrNameLst>
                                          <p:attrName>ppt_y</p:attrName>
                                        </p:attrNameLst>
                                      </p:cBhvr>
                                      <p:tavLst>
                                        <p:tav tm="0">
                                          <p:val>
                                            <p:strVal val="1+#ppt_h/2"/>
                                          </p:val>
                                        </p:tav>
                                        <p:tav tm="100000">
                                          <p:val>
                                            <p:strVal val="#ppt_y"/>
                                          </p:val>
                                        </p:tav>
                                      </p:tavLst>
                                    </p:anim>
                                  </p:childTnLst>
                                </p:cTn>
                              </p:par>
                            </p:childTnLst>
                          </p:cTn>
                        </p:par>
                        <p:par>
                          <p:cTn id="43" fill="hold">
                            <p:stCondLst>
                              <p:cond delay="6000"/>
                            </p:stCondLst>
                            <p:childTnLst>
                              <p:par>
                                <p:cTn id="44" presetClass="entr" nodeType="afterEffect" presetSubtype="4" presetID="2" grpId="2" fill="hold">
                                  <p:stCondLst>
                                    <p:cond delay="0"/>
                                  </p:stCondLst>
                                  <p:iterate type="el" backwards="0">
                                    <p:tmAbs val="0"/>
                                  </p:iterate>
                                  <p:childTnLst>
                                    <p:set>
                                      <p:cBhvr>
                                        <p:cTn id="45" fill="hold"/>
                                        <p:tgtEl>
                                          <p:spTgt spid="127">
                                            <p:txEl>
                                              <p:pRg st="6" end="6"/>
                                            </p:txEl>
                                          </p:spTgt>
                                        </p:tgtEl>
                                        <p:attrNameLst>
                                          <p:attrName>style.visibility</p:attrName>
                                        </p:attrNameLst>
                                      </p:cBhvr>
                                      <p:to>
                                        <p:strVal val="visible"/>
                                      </p:to>
                                    </p:set>
                                    <p:anim calcmode="lin" valueType="num">
                                      <p:cBhvr>
                                        <p:cTn id="46" dur="1000" fill="hold"/>
                                        <p:tgtEl>
                                          <p:spTgt spid="127">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127">
                                            <p:txEl>
                                              <p:pRg st="6" end="6"/>
                                            </p:txEl>
                                          </p:spTgt>
                                        </p:tgtEl>
                                        <p:attrNameLst>
                                          <p:attrName>ppt_y</p:attrName>
                                        </p:attrNameLst>
                                      </p:cBhvr>
                                      <p:tavLst>
                                        <p:tav tm="0">
                                          <p:val>
                                            <p:strVal val="1+#ppt_h/2"/>
                                          </p:val>
                                        </p:tav>
                                        <p:tav tm="100000">
                                          <p:val>
                                            <p:strVal val="#ppt_y"/>
                                          </p:val>
                                        </p:tav>
                                      </p:tavLst>
                                    </p:anim>
                                  </p:childTnLst>
                                </p:cTn>
                              </p:par>
                            </p:childTnLst>
                          </p:cTn>
                        </p:par>
                        <p:par>
                          <p:cTn id="48" fill="hold">
                            <p:stCondLst>
                              <p:cond delay="7000"/>
                            </p:stCondLst>
                            <p:childTnLst>
                              <p:par>
                                <p:cTn id="49" presetClass="entr" nodeType="afterEffect" presetSubtype="4" presetID="2" grpId="2" fill="hold">
                                  <p:stCondLst>
                                    <p:cond delay="0"/>
                                  </p:stCondLst>
                                  <p:iterate type="el" backwards="0">
                                    <p:tmAbs val="0"/>
                                  </p:iterate>
                                  <p:childTnLst>
                                    <p:set>
                                      <p:cBhvr>
                                        <p:cTn id="50" fill="hold"/>
                                        <p:tgtEl>
                                          <p:spTgt spid="127">
                                            <p:txEl>
                                              <p:pRg st="7" end="7"/>
                                            </p:txEl>
                                          </p:spTgt>
                                        </p:tgtEl>
                                        <p:attrNameLst>
                                          <p:attrName>style.visibility</p:attrName>
                                        </p:attrNameLst>
                                      </p:cBhvr>
                                      <p:to>
                                        <p:strVal val="visible"/>
                                      </p:to>
                                    </p:set>
                                    <p:anim calcmode="lin" valueType="num">
                                      <p:cBhvr>
                                        <p:cTn id="51" dur="1000" fill="hold"/>
                                        <p:tgtEl>
                                          <p:spTgt spid="127">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12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8" grpId="1"/>
      <p:bldP build="p" bldLvl="5" animBg="1" rev="0" advAuto="0" spid="127" grpId="2"/>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Google Shape;110;p4"/>
          <p:cNvSpPr txBox="1"/>
          <p:nvPr>
            <p:ph type="title"/>
          </p:nvPr>
        </p:nvSpPr>
        <p:spPr>
          <a:xfrm>
            <a:off x="492125" y="262890"/>
            <a:ext cx="10515600" cy="755652"/>
          </a:xfrm>
          <a:prstGeom prst="rect">
            <a:avLst/>
          </a:prstGeom>
        </p:spPr>
        <p:txBody>
          <a:bodyPr/>
          <a:lstStyle>
            <a:lvl1pPr>
              <a:defRPr b="1" u="sng">
                <a:solidFill>
                  <a:srgbClr val="FF0000"/>
                </a:solidFill>
              </a:defRPr>
            </a:lvl1pPr>
          </a:lstStyle>
          <a:p>
            <a:pPr/>
            <a:r>
              <a:t>Agenda</a:t>
            </a:r>
          </a:p>
        </p:txBody>
      </p:sp>
      <p:sp>
        <p:nvSpPr>
          <p:cNvPr id="131" name="Google Shape;111;p4"/>
          <p:cNvSpPr txBox="1"/>
          <p:nvPr>
            <p:ph type="body" idx="1"/>
          </p:nvPr>
        </p:nvSpPr>
        <p:spPr>
          <a:xfrm>
            <a:off x="685165" y="1366519"/>
            <a:ext cx="10515601" cy="4903473"/>
          </a:xfrm>
          <a:prstGeom prst="rect">
            <a:avLst/>
          </a:prstGeom>
        </p:spPr>
        <p:txBody>
          <a:bodyPr/>
          <a:lstStyle/>
          <a:p>
            <a:pPr marL="452627" indent="-427480" defTabSz="905255">
              <a:lnSpc>
                <a:spcPct val="81000"/>
              </a:lnSpc>
              <a:spcBef>
                <a:spcPts val="900"/>
              </a:spcBef>
              <a:buSzPts val="2100"/>
              <a:defRPr b="1" sz="2100"/>
            </a:pPr>
            <a:r>
              <a:t>Business Problem</a:t>
            </a:r>
            <a:endParaRPr sz="2400"/>
          </a:p>
          <a:p>
            <a:pPr marL="452627" indent="-427480" defTabSz="905255">
              <a:lnSpc>
                <a:spcPct val="81000"/>
              </a:lnSpc>
              <a:spcBef>
                <a:spcPts val="900"/>
              </a:spcBef>
              <a:buSzPts val="2100"/>
              <a:defRPr b="1" sz="2100"/>
            </a:pPr>
            <a:r>
              <a:t>Problem Statement</a:t>
            </a:r>
            <a:endParaRPr sz="2400"/>
          </a:p>
          <a:p>
            <a:pPr marL="452627" indent="-427480" defTabSz="905255">
              <a:lnSpc>
                <a:spcPct val="81000"/>
              </a:lnSpc>
              <a:spcBef>
                <a:spcPts val="900"/>
              </a:spcBef>
              <a:buSzPts val="2100"/>
              <a:defRPr b="1" sz="2100"/>
            </a:pPr>
            <a:r>
              <a:t>Objective </a:t>
            </a:r>
            <a:endParaRPr sz="2400"/>
          </a:p>
          <a:p>
            <a:pPr marL="452627" indent="-427480" defTabSz="905255">
              <a:lnSpc>
                <a:spcPct val="81000"/>
              </a:lnSpc>
              <a:spcBef>
                <a:spcPts val="900"/>
              </a:spcBef>
              <a:buSzPts val="2100"/>
              <a:defRPr b="1" sz="2100"/>
            </a:pPr>
            <a:r>
              <a:t>Use Case</a:t>
            </a:r>
            <a:endParaRPr sz="2400"/>
          </a:p>
          <a:p>
            <a:pPr marL="452627" indent="-427480" defTabSz="905255">
              <a:lnSpc>
                <a:spcPct val="81000"/>
              </a:lnSpc>
              <a:spcBef>
                <a:spcPts val="900"/>
              </a:spcBef>
              <a:buSzPts val="2100"/>
              <a:defRPr b="1" sz="2100"/>
            </a:pPr>
            <a:r>
              <a:t>Data Collection</a:t>
            </a:r>
            <a:endParaRPr sz="2400"/>
          </a:p>
          <a:p>
            <a:pPr marL="452627" indent="-427480" defTabSz="905255">
              <a:lnSpc>
                <a:spcPct val="81000"/>
              </a:lnSpc>
              <a:spcBef>
                <a:spcPts val="900"/>
              </a:spcBef>
              <a:buSzPts val="2100"/>
              <a:defRPr b="1" sz="2100"/>
            </a:pPr>
            <a:r>
              <a:t>Web Scraping Process</a:t>
            </a:r>
            <a:endParaRPr sz="2400"/>
          </a:p>
          <a:p>
            <a:pPr marL="452627" indent="-427480" defTabSz="905255">
              <a:lnSpc>
                <a:spcPct val="81000"/>
              </a:lnSpc>
              <a:spcBef>
                <a:spcPts val="900"/>
              </a:spcBef>
              <a:buSzPts val="2100"/>
              <a:defRPr b="1" sz="2100"/>
            </a:pPr>
            <a:r>
              <a:t>After Scraping/Before Cleaning Data</a:t>
            </a:r>
            <a:endParaRPr sz="2400"/>
          </a:p>
          <a:p>
            <a:pPr marL="452627" indent="-427480" defTabSz="905255">
              <a:lnSpc>
                <a:spcPct val="81000"/>
              </a:lnSpc>
              <a:spcBef>
                <a:spcPts val="900"/>
              </a:spcBef>
              <a:buSzPts val="2100"/>
              <a:defRPr b="1" sz="2100"/>
            </a:pPr>
            <a:r>
              <a:t>Summary of Data</a:t>
            </a:r>
            <a:endParaRPr sz="2400"/>
          </a:p>
          <a:p>
            <a:pPr marL="452627" indent="-427480" defTabSz="905255">
              <a:lnSpc>
                <a:spcPct val="81000"/>
              </a:lnSpc>
              <a:spcBef>
                <a:spcPts val="900"/>
              </a:spcBef>
              <a:buSzPts val="2100"/>
              <a:defRPr b="1" sz="2100"/>
            </a:pPr>
            <a:r>
              <a:t>Data Cleaning Steps</a:t>
            </a:r>
            <a:endParaRPr sz="2400"/>
          </a:p>
          <a:p>
            <a:pPr marL="452627" indent="-427480" defTabSz="905255">
              <a:lnSpc>
                <a:spcPct val="81000"/>
              </a:lnSpc>
              <a:spcBef>
                <a:spcPts val="900"/>
              </a:spcBef>
              <a:buSzPts val="2100"/>
              <a:defRPr b="1" sz="2100"/>
            </a:pPr>
            <a:r>
              <a:t>Data Visualization(Univariate,BivariateAnalysis)</a:t>
            </a:r>
            <a:endParaRPr sz="2400"/>
          </a:p>
          <a:p>
            <a:pPr marL="452627" indent="-427480" defTabSz="905255">
              <a:lnSpc>
                <a:spcPct val="81000"/>
              </a:lnSpc>
              <a:spcBef>
                <a:spcPts val="900"/>
              </a:spcBef>
              <a:buSzPts val="2100"/>
              <a:defRPr b="1" sz="2100"/>
            </a:pPr>
            <a:r>
              <a:t>Conclusion  </a:t>
            </a:r>
            <a:endParaRPr sz="2300"/>
          </a:p>
          <a:p>
            <a:pPr marL="452627" indent="-427480" defTabSz="905255">
              <a:lnSpc>
                <a:spcPct val="81000"/>
              </a:lnSpc>
              <a:spcBef>
                <a:spcPts val="900"/>
              </a:spcBef>
              <a:buSzPts val="2100"/>
              <a:defRPr b="1" sz="2100"/>
            </a:pPr>
            <a:r>
              <a:t>Q&amp;A Slide </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130"/>
                                        </p:tgtEl>
                                        <p:attrNameLst>
                                          <p:attrName>style.visibility</p:attrName>
                                        </p:attrNameLst>
                                      </p:cBhvr>
                                      <p:to>
                                        <p:strVal val="visible"/>
                                      </p:to>
                                    </p:set>
                                    <p:animEffect filter="wipe(left)" transition="in">
                                      <p:cBhvr>
                                        <p:cTn id="7" dur="500"/>
                                        <p:tgtEl>
                                          <p:spTgt spid="130"/>
                                        </p:tgtEl>
                                      </p:cBhvr>
                                    </p:animEffect>
                                  </p:childTnLst>
                                </p:cTn>
                              </p:par>
                            </p:childTnLst>
                          </p:cTn>
                        </p:par>
                        <p:par>
                          <p:cTn id="8" fill="hold">
                            <p:stCondLst>
                              <p:cond delay="500"/>
                            </p:stCondLst>
                            <p:childTnLst>
                              <p:par>
                                <p:cTn id="9" presetClass="entr" nodeType="afterEffect" presetSubtype="4" presetID="2" grpId="2" fill="hold">
                                  <p:stCondLst>
                                    <p:cond delay="0"/>
                                  </p:stCondLst>
                                  <p:iterate type="el" backwards="0">
                                    <p:tmAbs val="0"/>
                                  </p:iterate>
                                  <p:childTnLst>
                                    <p:set>
                                      <p:cBhvr>
                                        <p:cTn id="10" fill="hold"/>
                                        <p:tgtEl>
                                          <p:spTgt spid="131">
                                            <p:bg/>
                                          </p:spTgt>
                                        </p:tgtEl>
                                        <p:attrNameLst>
                                          <p:attrName>style.visibility</p:attrName>
                                        </p:attrNameLst>
                                      </p:cBhvr>
                                      <p:to>
                                        <p:strVal val="visible"/>
                                      </p:to>
                                    </p:set>
                                    <p:anim calcmode="lin" valueType="num">
                                      <p:cBhvr>
                                        <p:cTn id="11" dur="1000" fill="hold"/>
                                        <p:tgtEl>
                                          <p:spTgt spid="131">
                                            <p:bg/>
                                          </p:spTgt>
                                        </p:tgtEl>
                                        <p:attrNameLst>
                                          <p:attrName>ppt_x</p:attrName>
                                        </p:attrNameLst>
                                      </p:cBhvr>
                                      <p:tavLst>
                                        <p:tav tm="0">
                                          <p:val>
                                            <p:strVal val="#ppt_x"/>
                                          </p:val>
                                        </p:tav>
                                        <p:tav tm="100000">
                                          <p:val>
                                            <p:strVal val="#ppt_x"/>
                                          </p:val>
                                        </p:tav>
                                      </p:tavLst>
                                    </p:anim>
                                    <p:anim calcmode="lin" valueType="num">
                                      <p:cBhvr>
                                        <p:cTn id="12" dur="1000" fill="hold"/>
                                        <p:tgtEl>
                                          <p:spTgt spid="131">
                                            <p:bg/>
                                          </p:spTgt>
                                        </p:tgtEl>
                                        <p:attrNameLst>
                                          <p:attrName>ppt_y</p:attrName>
                                        </p:attrNameLst>
                                      </p:cBhvr>
                                      <p:tavLst>
                                        <p:tav tm="0">
                                          <p:val>
                                            <p:strVal val="1+#ppt_h/2"/>
                                          </p:val>
                                        </p:tav>
                                        <p:tav tm="100000">
                                          <p:val>
                                            <p:strVal val="#ppt_y"/>
                                          </p:val>
                                        </p:tav>
                                      </p:tavLst>
                                    </p:anim>
                                  </p:childTnLst>
                                </p:cTn>
                              </p:par>
                              <p:par>
                                <p:cTn id="13" presetClass="entr" nodeType="withEffect" presetSubtype="4" presetID="2" grpId="2" fill="hold">
                                  <p:stCondLst>
                                    <p:cond delay="0"/>
                                  </p:stCondLst>
                                  <p:iterate type="el" backwards="0">
                                    <p:tmAbs val="0"/>
                                  </p:iterate>
                                  <p:childTnLst>
                                    <p:set>
                                      <p:cBhvr>
                                        <p:cTn id="14" fill="hold"/>
                                        <p:tgtEl>
                                          <p:spTgt spid="131">
                                            <p:txEl>
                                              <p:pRg st="0" end="0"/>
                                            </p:txEl>
                                          </p:spTgt>
                                        </p:tgtEl>
                                        <p:attrNameLst>
                                          <p:attrName>style.visibility</p:attrName>
                                        </p:attrNameLst>
                                      </p:cBhvr>
                                      <p:to>
                                        <p:strVal val="visible"/>
                                      </p:to>
                                    </p:set>
                                    <p:anim calcmode="lin" valueType="num">
                                      <p:cBhvr>
                                        <p:cTn id="15" dur="1000" fill="hold"/>
                                        <p:tgtEl>
                                          <p:spTgt spid="131">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31">
                                            <p:txEl>
                                              <p:pRg st="0" end="0"/>
                                            </p:txEl>
                                          </p:spTgt>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Class="entr" nodeType="afterEffect" presetSubtype="4" presetID="2" grpId="2" fill="hold">
                                  <p:stCondLst>
                                    <p:cond delay="0"/>
                                  </p:stCondLst>
                                  <p:iterate type="el" backwards="0">
                                    <p:tmAbs val="0"/>
                                  </p:iterate>
                                  <p:childTnLst>
                                    <p:set>
                                      <p:cBhvr>
                                        <p:cTn id="19" fill="hold"/>
                                        <p:tgtEl>
                                          <p:spTgt spid="131">
                                            <p:txEl>
                                              <p:pRg st="1" end="1"/>
                                            </p:txEl>
                                          </p:spTgt>
                                        </p:tgtEl>
                                        <p:attrNameLst>
                                          <p:attrName>style.visibility</p:attrName>
                                        </p:attrNameLst>
                                      </p:cBhvr>
                                      <p:to>
                                        <p:strVal val="visible"/>
                                      </p:to>
                                    </p:set>
                                    <p:anim calcmode="lin" valueType="num">
                                      <p:cBhvr>
                                        <p:cTn id="20" dur="1000" fill="hold"/>
                                        <p:tgtEl>
                                          <p:spTgt spid="131">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131">
                                            <p:txEl>
                                              <p:pRg st="1" end="1"/>
                                            </p:txEl>
                                          </p:spTgt>
                                        </p:tgtEl>
                                        <p:attrNameLst>
                                          <p:attrName>ppt_y</p:attrName>
                                        </p:attrNameLst>
                                      </p:cBhvr>
                                      <p:tavLst>
                                        <p:tav tm="0">
                                          <p:val>
                                            <p:strVal val="1+#ppt_h/2"/>
                                          </p:val>
                                        </p:tav>
                                        <p:tav tm="100000">
                                          <p:val>
                                            <p:strVal val="#ppt_y"/>
                                          </p:val>
                                        </p:tav>
                                      </p:tavLst>
                                    </p:anim>
                                  </p:childTnLst>
                                </p:cTn>
                              </p:par>
                            </p:childTnLst>
                          </p:cTn>
                        </p:par>
                        <p:par>
                          <p:cTn id="22" fill="hold">
                            <p:stCondLst>
                              <p:cond delay="2500"/>
                            </p:stCondLst>
                            <p:childTnLst>
                              <p:par>
                                <p:cTn id="23" presetClass="entr" nodeType="afterEffect" presetSubtype="4" presetID="2" grpId="2" fill="hold">
                                  <p:stCondLst>
                                    <p:cond delay="0"/>
                                  </p:stCondLst>
                                  <p:iterate type="el" backwards="0">
                                    <p:tmAbs val="0"/>
                                  </p:iterate>
                                  <p:childTnLst>
                                    <p:set>
                                      <p:cBhvr>
                                        <p:cTn id="24" fill="hold"/>
                                        <p:tgtEl>
                                          <p:spTgt spid="131">
                                            <p:txEl>
                                              <p:pRg st="2" end="2"/>
                                            </p:txEl>
                                          </p:spTgt>
                                        </p:tgtEl>
                                        <p:attrNameLst>
                                          <p:attrName>style.visibility</p:attrName>
                                        </p:attrNameLst>
                                      </p:cBhvr>
                                      <p:to>
                                        <p:strVal val="visible"/>
                                      </p:to>
                                    </p:set>
                                    <p:anim calcmode="lin" valueType="num">
                                      <p:cBhvr>
                                        <p:cTn id="25" dur="1000" fill="hold"/>
                                        <p:tgtEl>
                                          <p:spTgt spid="131">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131">
                                            <p:txEl>
                                              <p:pRg st="2" end="2"/>
                                            </p:txEl>
                                          </p:spTgt>
                                        </p:tgtEl>
                                        <p:attrNameLst>
                                          <p:attrName>ppt_y</p:attrName>
                                        </p:attrNameLst>
                                      </p:cBhvr>
                                      <p:tavLst>
                                        <p:tav tm="0">
                                          <p:val>
                                            <p:strVal val="1+#ppt_h/2"/>
                                          </p:val>
                                        </p:tav>
                                        <p:tav tm="100000">
                                          <p:val>
                                            <p:strVal val="#ppt_y"/>
                                          </p:val>
                                        </p:tav>
                                      </p:tavLst>
                                    </p:anim>
                                  </p:childTnLst>
                                </p:cTn>
                              </p:par>
                            </p:childTnLst>
                          </p:cTn>
                        </p:par>
                        <p:par>
                          <p:cTn id="27" fill="hold">
                            <p:stCondLst>
                              <p:cond delay="3500"/>
                            </p:stCondLst>
                            <p:childTnLst>
                              <p:par>
                                <p:cTn id="28" presetClass="entr" nodeType="afterEffect" presetSubtype="4" presetID="2" grpId="2" fill="hold">
                                  <p:stCondLst>
                                    <p:cond delay="0"/>
                                  </p:stCondLst>
                                  <p:iterate type="el" backwards="0">
                                    <p:tmAbs val="0"/>
                                  </p:iterate>
                                  <p:childTnLst>
                                    <p:set>
                                      <p:cBhvr>
                                        <p:cTn id="29" fill="hold"/>
                                        <p:tgtEl>
                                          <p:spTgt spid="131">
                                            <p:txEl>
                                              <p:pRg st="3" end="3"/>
                                            </p:txEl>
                                          </p:spTgt>
                                        </p:tgtEl>
                                        <p:attrNameLst>
                                          <p:attrName>style.visibility</p:attrName>
                                        </p:attrNameLst>
                                      </p:cBhvr>
                                      <p:to>
                                        <p:strVal val="visible"/>
                                      </p:to>
                                    </p:set>
                                    <p:anim calcmode="lin" valueType="num">
                                      <p:cBhvr>
                                        <p:cTn id="30" dur="1000" fill="hold"/>
                                        <p:tgtEl>
                                          <p:spTgt spid="131">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131">
                                            <p:txEl>
                                              <p:pRg st="3" end="3"/>
                                            </p:txEl>
                                          </p:spTgt>
                                        </p:tgtEl>
                                        <p:attrNameLst>
                                          <p:attrName>ppt_y</p:attrName>
                                        </p:attrNameLst>
                                      </p:cBhvr>
                                      <p:tavLst>
                                        <p:tav tm="0">
                                          <p:val>
                                            <p:strVal val="1+#ppt_h/2"/>
                                          </p:val>
                                        </p:tav>
                                        <p:tav tm="100000">
                                          <p:val>
                                            <p:strVal val="#ppt_y"/>
                                          </p:val>
                                        </p:tav>
                                      </p:tavLst>
                                    </p:anim>
                                  </p:childTnLst>
                                </p:cTn>
                              </p:par>
                            </p:childTnLst>
                          </p:cTn>
                        </p:par>
                        <p:par>
                          <p:cTn id="32" fill="hold">
                            <p:stCondLst>
                              <p:cond delay="4500"/>
                            </p:stCondLst>
                            <p:childTnLst>
                              <p:par>
                                <p:cTn id="33" presetClass="entr" nodeType="afterEffect" presetSubtype="4" presetID="2" grpId="2" fill="hold">
                                  <p:stCondLst>
                                    <p:cond delay="0"/>
                                  </p:stCondLst>
                                  <p:iterate type="el" backwards="0">
                                    <p:tmAbs val="0"/>
                                  </p:iterate>
                                  <p:childTnLst>
                                    <p:set>
                                      <p:cBhvr>
                                        <p:cTn id="34" fill="hold"/>
                                        <p:tgtEl>
                                          <p:spTgt spid="131">
                                            <p:txEl>
                                              <p:pRg st="4" end="4"/>
                                            </p:txEl>
                                          </p:spTgt>
                                        </p:tgtEl>
                                        <p:attrNameLst>
                                          <p:attrName>style.visibility</p:attrName>
                                        </p:attrNameLst>
                                      </p:cBhvr>
                                      <p:to>
                                        <p:strVal val="visible"/>
                                      </p:to>
                                    </p:set>
                                    <p:anim calcmode="lin" valueType="num">
                                      <p:cBhvr>
                                        <p:cTn id="35" dur="1000" fill="hold"/>
                                        <p:tgtEl>
                                          <p:spTgt spid="131">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131">
                                            <p:txEl>
                                              <p:pRg st="4" end="4"/>
                                            </p:txEl>
                                          </p:spTgt>
                                        </p:tgtEl>
                                        <p:attrNameLst>
                                          <p:attrName>ppt_y</p:attrName>
                                        </p:attrNameLst>
                                      </p:cBhvr>
                                      <p:tavLst>
                                        <p:tav tm="0">
                                          <p:val>
                                            <p:strVal val="1+#ppt_h/2"/>
                                          </p:val>
                                        </p:tav>
                                        <p:tav tm="100000">
                                          <p:val>
                                            <p:strVal val="#ppt_y"/>
                                          </p:val>
                                        </p:tav>
                                      </p:tavLst>
                                    </p:anim>
                                  </p:childTnLst>
                                </p:cTn>
                              </p:par>
                            </p:childTnLst>
                          </p:cTn>
                        </p:par>
                        <p:par>
                          <p:cTn id="37" fill="hold">
                            <p:stCondLst>
                              <p:cond delay="5500"/>
                            </p:stCondLst>
                            <p:childTnLst>
                              <p:par>
                                <p:cTn id="38" presetClass="entr" nodeType="afterEffect" presetSubtype="4" presetID="2" grpId="2" fill="hold">
                                  <p:stCondLst>
                                    <p:cond delay="0"/>
                                  </p:stCondLst>
                                  <p:iterate type="el" backwards="0">
                                    <p:tmAbs val="0"/>
                                  </p:iterate>
                                  <p:childTnLst>
                                    <p:set>
                                      <p:cBhvr>
                                        <p:cTn id="39" fill="hold"/>
                                        <p:tgtEl>
                                          <p:spTgt spid="131">
                                            <p:txEl>
                                              <p:pRg st="5" end="5"/>
                                            </p:txEl>
                                          </p:spTgt>
                                        </p:tgtEl>
                                        <p:attrNameLst>
                                          <p:attrName>style.visibility</p:attrName>
                                        </p:attrNameLst>
                                      </p:cBhvr>
                                      <p:to>
                                        <p:strVal val="visible"/>
                                      </p:to>
                                    </p:set>
                                    <p:anim calcmode="lin" valueType="num">
                                      <p:cBhvr>
                                        <p:cTn id="40" dur="1000" fill="hold"/>
                                        <p:tgtEl>
                                          <p:spTgt spid="131">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131">
                                            <p:txEl>
                                              <p:pRg st="5" end="5"/>
                                            </p:txEl>
                                          </p:spTgt>
                                        </p:tgtEl>
                                        <p:attrNameLst>
                                          <p:attrName>ppt_y</p:attrName>
                                        </p:attrNameLst>
                                      </p:cBhvr>
                                      <p:tavLst>
                                        <p:tav tm="0">
                                          <p:val>
                                            <p:strVal val="1+#ppt_h/2"/>
                                          </p:val>
                                        </p:tav>
                                        <p:tav tm="100000">
                                          <p:val>
                                            <p:strVal val="#ppt_y"/>
                                          </p:val>
                                        </p:tav>
                                      </p:tavLst>
                                    </p:anim>
                                  </p:childTnLst>
                                </p:cTn>
                              </p:par>
                            </p:childTnLst>
                          </p:cTn>
                        </p:par>
                        <p:par>
                          <p:cTn id="42" fill="hold">
                            <p:stCondLst>
                              <p:cond delay="6500"/>
                            </p:stCondLst>
                            <p:childTnLst>
                              <p:par>
                                <p:cTn id="43" presetClass="entr" nodeType="afterEffect" presetSubtype="4" presetID="2" grpId="2" fill="hold">
                                  <p:stCondLst>
                                    <p:cond delay="0"/>
                                  </p:stCondLst>
                                  <p:iterate type="el" backwards="0">
                                    <p:tmAbs val="0"/>
                                  </p:iterate>
                                  <p:childTnLst>
                                    <p:set>
                                      <p:cBhvr>
                                        <p:cTn id="44" fill="hold"/>
                                        <p:tgtEl>
                                          <p:spTgt spid="131">
                                            <p:txEl>
                                              <p:pRg st="6" end="6"/>
                                            </p:txEl>
                                          </p:spTgt>
                                        </p:tgtEl>
                                        <p:attrNameLst>
                                          <p:attrName>style.visibility</p:attrName>
                                        </p:attrNameLst>
                                      </p:cBhvr>
                                      <p:to>
                                        <p:strVal val="visible"/>
                                      </p:to>
                                    </p:set>
                                    <p:anim calcmode="lin" valueType="num">
                                      <p:cBhvr>
                                        <p:cTn id="45" dur="1000" fill="hold"/>
                                        <p:tgtEl>
                                          <p:spTgt spid="131">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131">
                                            <p:txEl>
                                              <p:pRg st="6" end="6"/>
                                            </p:txEl>
                                          </p:spTgt>
                                        </p:tgtEl>
                                        <p:attrNameLst>
                                          <p:attrName>ppt_y</p:attrName>
                                        </p:attrNameLst>
                                      </p:cBhvr>
                                      <p:tavLst>
                                        <p:tav tm="0">
                                          <p:val>
                                            <p:strVal val="1+#ppt_h/2"/>
                                          </p:val>
                                        </p:tav>
                                        <p:tav tm="100000">
                                          <p:val>
                                            <p:strVal val="#ppt_y"/>
                                          </p:val>
                                        </p:tav>
                                      </p:tavLst>
                                    </p:anim>
                                  </p:childTnLst>
                                </p:cTn>
                              </p:par>
                            </p:childTnLst>
                          </p:cTn>
                        </p:par>
                        <p:par>
                          <p:cTn id="47" fill="hold">
                            <p:stCondLst>
                              <p:cond delay="7500"/>
                            </p:stCondLst>
                            <p:childTnLst>
                              <p:par>
                                <p:cTn id="48" presetClass="entr" nodeType="afterEffect" presetSubtype="4" presetID="2" grpId="2" fill="hold">
                                  <p:stCondLst>
                                    <p:cond delay="0"/>
                                  </p:stCondLst>
                                  <p:iterate type="el" backwards="0">
                                    <p:tmAbs val="0"/>
                                  </p:iterate>
                                  <p:childTnLst>
                                    <p:set>
                                      <p:cBhvr>
                                        <p:cTn id="49" fill="hold"/>
                                        <p:tgtEl>
                                          <p:spTgt spid="131">
                                            <p:txEl>
                                              <p:pRg st="7" end="7"/>
                                            </p:txEl>
                                          </p:spTgt>
                                        </p:tgtEl>
                                        <p:attrNameLst>
                                          <p:attrName>style.visibility</p:attrName>
                                        </p:attrNameLst>
                                      </p:cBhvr>
                                      <p:to>
                                        <p:strVal val="visible"/>
                                      </p:to>
                                    </p:set>
                                    <p:anim calcmode="lin" valueType="num">
                                      <p:cBhvr>
                                        <p:cTn id="50" dur="1000" fill="hold"/>
                                        <p:tgtEl>
                                          <p:spTgt spid="131">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131">
                                            <p:txEl>
                                              <p:pRg st="7" end="7"/>
                                            </p:txEl>
                                          </p:spTgt>
                                        </p:tgtEl>
                                        <p:attrNameLst>
                                          <p:attrName>ppt_y</p:attrName>
                                        </p:attrNameLst>
                                      </p:cBhvr>
                                      <p:tavLst>
                                        <p:tav tm="0">
                                          <p:val>
                                            <p:strVal val="1+#ppt_h/2"/>
                                          </p:val>
                                        </p:tav>
                                        <p:tav tm="100000">
                                          <p:val>
                                            <p:strVal val="#ppt_y"/>
                                          </p:val>
                                        </p:tav>
                                      </p:tavLst>
                                    </p:anim>
                                  </p:childTnLst>
                                </p:cTn>
                              </p:par>
                            </p:childTnLst>
                          </p:cTn>
                        </p:par>
                        <p:par>
                          <p:cTn id="52" fill="hold">
                            <p:stCondLst>
                              <p:cond delay="8500"/>
                            </p:stCondLst>
                            <p:childTnLst>
                              <p:par>
                                <p:cTn id="53" presetClass="entr" nodeType="afterEffect" presetSubtype="4" presetID="2" grpId="2" fill="hold">
                                  <p:stCondLst>
                                    <p:cond delay="0"/>
                                  </p:stCondLst>
                                  <p:iterate type="el" backwards="0">
                                    <p:tmAbs val="0"/>
                                  </p:iterate>
                                  <p:childTnLst>
                                    <p:set>
                                      <p:cBhvr>
                                        <p:cTn id="54" fill="hold"/>
                                        <p:tgtEl>
                                          <p:spTgt spid="131">
                                            <p:txEl>
                                              <p:pRg st="8" end="8"/>
                                            </p:txEl>
                                          </p:spTgt>
                                        </p:tgtEl>
                                        <p:attrNameLst>
                                          <p:attrName>style.visibility</p:attrName>
                                        </p:attrNameLst>
                                      </p:cBhvr>
                                      <p:to>
                                        <p:strVal val="visible"/>
                                      </p:to>
                                    </p:set>
                                    <p:anim calcmode="lin" valueType="num">
                                      <p:cBhvr>
                                        <p:cTn id="55" dur="1000" fill="hold"/>
                                        <p:tgtEl>
                                          <p:spTgt spid="131">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131">
                                            <p:txEl>
                                              <p:pRg st="8" end="8"/>
                                            </p:txEl>
                                          </p:spTgt>
                                        </p:tgtEl>
                                        <p:attrNameLst>
                                          <p:attrName>ppt_y</p:attrName>
                                        </p:attrNameLst>
                                      </p:cBhvr>
                                      <p:tavLst>
                                        <p:tav tm="0">
                                          <p:val>
                                            <p:strVal val="1+#ppt_h/2"/>
                                          </p:val>
                                        </p:tav>
                                        <p:tav tm="100000">
                                          <p:val>
                                            <p:strVal val="#ppt_y"/>
                                          </p:val>
                                        </p:tav>
                                      </p:tavLst>
                                    </p:anim>
                                  </p:childTnLst>
                                </p:cTn>
                              </p:par>
                            </p:childTnLst>
                          </p:cTn>
                        </p:par>
                        <p:par>
                          <p:cTn id="57" fill="hold">
                            <p:stCondLst>
                              <p:cond delay="9500"/>
                            </p:stCondLst>
                            <p:childTnLst>
                              <p:par>
                                <p:cTn id="58" presetClass="entr" nodeType="afterEffect" presetSubtype="4" presetID="2" grpId="2" fill="hold">
                                  <p:stCondLst>
                                    <p:cond delay="0"/>
                                  </p:stCondLst>
                                  <p:iterate type="el" backwards="0">
                                    <p:tmAbs val="0"/>
                                  </p:iterate>
                                  <p:childTnLst>
                                    <p:set>
                                      <p:cBhvr>
                                        <p:cTn id="59" fill="hold"/>
                                        <p:tgtEl>
                                          <p:spTgt spid="131">
                                            <p:txEl>
                                              <p:pRg st="9" end="9"/>
                                            </p:txEl>
                                          </p:spTgt>
                                        </p:tgtEl>
                                        <p:attrNameLst>
                                          <p:attrName>style.visibility</p:attrName>
                                        </p:attrNameLst>
                                      </p:cBhvr>
                                      <p:to>
                                        <p:strVal val="visible"/>
                                      </p:to>
                                    </p:set>
                                    <p:anim calcmode="lin" valueType="num">
                                      <p:cBhvr>
                                        <p:cTn id="60" dur="1000" fill="hold"/>
                                        <p:tgtEl>
                                          <p:spTgt spid="131">
                                            <p:txEl>
                                              <p:pRg st="9" end="9"/>
                                            </p:txEl>
                                          </p:spTgt>
                                        </p:tgtEl>
                                        <p:attrNameLst>
                                          <p:attrName>ppt_x</p:attrName>
                                        </p:attrNameLst>
                                      </p:cBhvr>
                                      <p:tavLst>
                                        <p:tav tm="0">
                                          <p:val>
                                            <p:strVal val="#ppt_x"/>
                                          </p:val>
                                        </p:tav>
                                        <p:tav tm="100000">
                                          <p:val>
                                            <p:strVal val="#ppt_x"/>
                                          </p:val>
                                        </p:tav>
                                      </p:tavLst>
                                    </p:anim>
                                    <p:anim calcmode="lin" valueType="num">
                                      <p:cBhvr>
                                        <p:cTn id="61" dur="1000" fill="hold"/>
                                        <p:tgtEl>
                                          <p:spTgt spid="131">
                                            <p:txEl>
                                              <p:pRg st="9" end="9"/>
                                            </p:txEl>
                                          </p:spTgt>
                                        </p:tgtEl>
                                        <p:attrNameLst>
                                          <p:attrName>ppt_y</p:attrName>
                                        </p:attrNameLst>
                                      </p:cBhvr>
                                      <p:tavLst>
                                        <p:tav tm="0">
                                          <p:val>
                                            <p:strVal val="1+#ppt_h/2"/>
                                          </p:val>
                                        </p:tav>
                                        <p:tav tm="100000">
                                          <p:val>
                                            <p:strVal val="#ppt_y"/>
                                          </p:val>
                                        </p:tav>
                                      </p:tavLst>
                                    </p:anim>
                                  </p:childTnLst>
                                </p:cTn>
                              </p:par>
                            </p:childTnLst>
                          </p:cTn>
                        </p:par>
                        <p:par>
                          <p:cTn id="62" fill="hold">
                            <p:stCondLst>
                              <p:cond delay="10500"/>
                            </p:stCondLst>
                            <p:childTnLst>
                              <p:par>
                                <p:cTn id="63" presetClass="entr" nodeType="afterEffect" presetSubtype="4" presetID="2" grpId="2" fill="hold">
                                  <p:stCondLst>
                                    <p:cond delay="0"/>
                                  </p:stCondLst>
                                  <p:iterate type="el" backwards="0">
                                    <p:tmAbs val="0"/>
                                  </p:iterate>
                                  <p:childTnLst>
                                    <p:set>
                                      <p:cBhvr>
                                        <p:cTn id="64" fill="hold"/>
                                        <p:tgtEl>
                                          <p:spTgt spid="131">
                                            <p:txEl>
                                              <p:pRg st="10" end="10"/>
                                            </p:txEl>
                                          </p:spTgt>
                                        </p:tgtEl>
                                        <p:attrNameLst>
                                          <p:attrName>style.visibility</p:attrName>
                                        </p:attrNameLst>
                                      </p:cBhvr>
                                      <p:to>
                                        <p:strVal val="visible"/>
                                      </p:to>
                                    </p:set>
                                    <p:anim calcmode="lin" valueType="num">
                                      <p:cBhvr>
                                        <p:cTn id="65" dur="1000" fill="hold"/>
                                        <p:tgtEl>
                                          <p:spTgt spid="131">
                                            <p:txEl>
                                              <p:pRg st="10" end="10"/>
                                            </p:txEl>
                                          </p:spTgt>
                                        </p:tgtEl>
                                        <p:attrNameLst>
                                          <p:attrName>ppt_x</p:attrName>
                                        </p:attrNameLst>
                                      </p:cBhvr>
                                      <p:tavLst>
                                        <p:tav tm="0">
                                          <p:val>
                                            <p:strVal val="#ppt_x"/>
                                          </p:val>
                                        </p:tav>
                                        <p:tav tm="100000">
                                          <p:val>
                                            <p:strVal val="#ppt_x"/>
                                          </p:val>
                                        </p:tav>
                                      </p:tavLst>
                                    </p:anim>
                                    <p:anim calcmode="lin" valueType="num">
                                      <p:cBhvr>
                                        <p:cTn id="66" dur="1000" fill="hold"/>
                                        <p:tgtEl>
                                          <p:spTgt spid="131">
                                            <p:txEl>
                                              <p:pRg st="10" end="10"/>
                                            </p:txEl>
                                          </p:spTgt>
                                        </p:tgtEl>
                                        <p:attrNameLst>
                                          <p:attrName>ppt_y</p:attrName>
                                        </p:attrNameLst>
                                      </p:cBhvr>
                                      <p:tavLst>
                                        <p:tav tm="0">
                                          <p:val>
                                            <p:strVal val="1+#ppt_h/2"/>
                                          </p:val>
                                        </p:tav>
                                        <p:tav tm="100000">
                                          <p:val>
                                            <p:strVal val="#ppt_y"/>
                                          </p:val>
                                        </p:tav>
                                      </p:tavLst>
                                    </p:anim>
                                  </p:childTnLst>
                                </p:cTn>
                              </p:par>
                            </p:childTnLst>
                          </p:cTn>
                        </p:par>
                        <p:par>
                          <p:cTn id="67" fill="hold">
                            <p:stCondLst>
                              <p:cond delay="11500"/>
                            </p:stCondLst>
                            <p:childTnLst>
                              <p:par>
                                <p:cTn id="68" presetClass="entr" nodeType="afterEffect" presetSubtype="4" presetID="2" grpId="2" fill="hold">
                                  <p:stCondLst>
                                    <p:cond delay="0"/>
                                  </p:stCondLst>
                                  <p:iterate type="el" backwards="0">
                                    <p:tmAbs val="0"/>
                                  </p:iterate>
                                  <p:childTnLst>
                                    <p:set>
                                      <p:cBhvr>
                                        <p:cTn id="69" fill="hold"/>
                                        <p:tgtEl>
                                          <p:spTgt spid="131">
                                            <p:txEl>
                                              <p:pRg st="11" end="11"/>
                                            </p:txEl>
                                          </p:spTgt>
                                        </p:tgtEl>
                                        <p:attrNameLst>
                                          <p:attrName>style.visibility</p:attrName>
                                        </p:attrNameLst>
                                      </p:cBhvr>
                                      <p:to>
                                        <p:strVal val="visible"/>
                                      </p:to>
                                    </p:set>
                                    <p:anim calcmode="lin" valueType="num">
                                      <p:cBhvr>
                                        <p:cTn id="70" dur="1000" fill="hold"/>
                                        <p:tgtEl>
                                          <p:spTgt spid="131">
                                            <p:txEl>
                                              <p:pRg st="11" end="11"/>
                                            </p:txEl>
                                          </p:spTgt>
                                        </p:tgtEl>
                                        <p:attrNameLst>
                                          <p:attrName>ppt_x</p:attrName>
                                        </p:attrNameLst>
                                      </p:cBhvr>
                                      <p:tavLst>
                                        <p:tav tm="0">
                                          <p:val>
                                            <p:strVal val="#ppt_x"/>
                                          </p:val>
                                        </p:tav>
                                        <p:tav tm="100000">
                                          <p:val>
                                            <p:strVal val="#ppt_x"/>
                                          </p:val>
                                        </p:tav>
                                      </p:tavLst>
                                    </p:anim>
                                    <p:anim calcmode="lin" valueType="num">
                                      <p:cBhvr>
                                        <p:cTn id="71" dur="1000" fill="hold"/>
                                        <p:tgtEl>
                                          <p:spTgt spid="131">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0" grpId="1"/>
      <p:bldP build="p" bldLvl="5" animBg="1" rev="0" advAuto="0" spid="131" grpId="2"/>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Title 1"/>
          <p:cNvSpPr txBox="1"/>
          <p:nvPr>
            <p:ph type="title"/>
          </p:nvPr>
        </p:nvSpPr>
        <p:spPr>
          <a:xfrm>
            <a:off x="838200" y="365125"/>
            <a:ext cx="10515600" cy="1006475"/>
          </a:xfrm>
          <a:prstGeom prst="rect">
            <a:avLst/>
          </a:prstGeom>
        </p:spPr>
        <p:txBody>
          <a:bodyPr/>
          <a:lstStyle>
            <a:lvl1pPr>
              <a:defRPr b="1" u="sng">
                <a:solidFill>
                  <a:srgbClr val="FF0000"/>
                </a:solidFill>
                <a:latin typeface="+mj-lt"/>
                <a:ea typeface="+mj-ea"/>
                <a:cs typeface="+mj-cs"/>
                <a:sym typeface="Arial"/>
              </a:defRPr>
            </a:lvl1pPr>
          </a:lstStyle>
          <a:p>
            <a:pPr/>
            <a:r>
              <a:t>Business Problem</a:t>
            </a:r>
          </a:p>
        </p:txBody>
      </p:sp>
      <p:sp>
        <p:nvSpPr>
          <p:cNvPr id="134" name="Rectangle 1"/>
          <p:cNvSpPr txBox="1"/>
          <p:nvPr/>
        </p:nvSpPr>
        <p:spPr>
          <a:xfrm>
            <a:off x="871044" y="1400282"/>
            <a:ext cx="9848682" cy="302974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marL="609598" indent="-609598" algn="just" defTabSz="2438337">
              <a:lnSpc>
                <a:spcPct val="90000"/>
              </a:lnSpc>
              <a:spcBef>
                <a:spcPts val="4500"/>
              </a:spcBef>
              <a:buSzPct val="123000"/>
              <a:buChar char="•"/>
              <a:defRPr sz="3000">
                <a:latin typeface="Times New Roman"/>
                <a:ea typeface="Times New Roman"/>
                <a:cs typeface="Times New Roman"/>
                <a:sym typeface="Times New Roman"/>
              </a:defRPr>
            </a:pPr>
            <a:r>
              <a:t>Indian students aspiring to pursue medical education face significant challenges in finding the right college</a:t>
            </a:r>
          </a:p>
          <a:p>
            <a:pPr marL="609598" indent="-609598" algn="just" defTabSz="2438337">
              <a:lnSpc>
                <a:spcPct val="90000"/>
              </a:lnSpc>
              <a:spcBef>
                <a:spcPts val="4500"/>
              </a:spcBef>
              <a:buSzPct val="123000"/>
              <a:buChar char="•"/>
              <a:defRPr sz="3000">
                <a:latin typeface="Times New Roman"/>
                <a:ea typeface="Times New Roman"/>
                <a:cs typeface="Times New Roman"/>
                <a:sym typeface="Times New Roman"/>
              </a:defRPr>
            </a:pPr>
            <a:r>
              <a:t>Currently, students and parents must manually search through dozens of college listing pages, filter by state/city, and compile information across different sources to make informed decisions.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TextBox 4"/>
          <p:cNvSpPr txBox="1"/>
          <p:nvPr/>
        </p:nvSpPr>
        <p:spPr>
          <a:xfrm>
            <a:off x="613175" y="316190"/>
            <a:ext cx="6006708" cy="60162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4000" u="sng">
                <a:solidFill>
                  <a:srgbClr val="FF0000"/>
                </a:solidFill>
                <a:latin typeface="Calibri"/>
                <a:ea typeface="Calibri"/>
                <a:cs typeface="Calibri"/>
                <a:sym typeface="Calibri"/>
              </a:defRPr>
            </a:lvl1pPr>
          </a:lstStyle>
          <a:p>
            <a:pPr/>
            <a:r>
              <a:t>Problem Statement</a:t>
            </a:r>
          </a:p>
        </p:txBody>
      </p:sp>
      <p:sp>
        <p:nvSpPr>
          <p:cNvPr id="137" name="Students and parents seeking medical college admissions in India lack a centralized, structured database that allows them to:…"/>
          <p:cNvSpPr txBox="1"/>
          <p:nvPr/>
        </p:nvSpPr>
        <p:spPr>
          <a:xfrm>
            <a:off x="354523" y="1175209"/>
            <a:ext cx="11482954" cy="4266793"/>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defRPr sz="2900">
                <a:latin typeface="Times New Roman"/>
                <a:ea typeface="Times New Roman"/>
                <a:cs typeface="Times New Roman"/>
                <a:sym typeface="Times New Roman"/>
              </a:defRPr>
            </a:pPr>
            <a:r>
              <a:t>Students and parents seeking medical college admissions in India lack a centralized, structured database that allows them to:</a:t>
            </a:r>
          </a:p>
          <a:p>
            <a:pPr>
              <a:defRPr sz="2900">
                <a:latin typeface="Times New Roman"/>
                <a:ea typeface="Times New Roman"/>
                <a:cs typeface="Times New Roman"/>
                <a:sym typeface="Times New Roman"/>
              </a:defRPr>
            </a:pPr>
          </a:p>
          <a:p>
            <a:pPr>
              <a:defRPr sz="2900">
                <a:latin typeface="Times New Roman"/>
                <a:ea typeface="Times New Roman"/>
                <a:cs typeface="Times New Roman"/>
                <a:sym typeface="Times New Roman"/>
              </a:defRPr>
            </a:pPr>
            <a:r>
              <a:t>•Compare medical colleges across multiple parameters (location, ownership, affiliation, establishment year)</a:t>
            </a:r>
          </a:p>
          <a:p>
            <a:pPr>
              <a:defRPr sz="2900">
                <a:latin typeface="Times New Roman"/>
                <a:ea typeface="Times New Roman"/>
                <a:cs typeface="Times New Roman"/>
                <a:sym typeface="Times New Roman"/>
              </a:defRPr>
            </a:pPr>
          </a:p>
          <a:p>
            <a:pPr>
              <a:defRPr sz="2900">
                <a:latin typeface="Times New Roman"/>
                <a:ea typeface="Times New Roman"/>
                <a:cs typeface="Times New Roman"/>
                <a:sym typeface="Times New Roman"/>
              </a:defRPr>
            </a:pPr>
            <a:r>
              <a:t>•Filter colleges based on their preferences (government vs. private, specific cities, affiliated universities)</a:t>
            </a:r>
          </a:p>
          <a:p>
            <a:pPr>
              <a:defRPr sz="2900">
                <a:latin typeface="Times New Roman"/>
                <a:ea typeface="Times New Roman"/>
                <a:cs typeface="Times New Roman"/>
                <a:sym typeface="Times New Roman"/>
              </a:defRPr>
            </a:pPr>
          </a:p>
          <a:p>
            <a:pPr>
              <a:defRPr sz="2900">
                <a:latin typeface="Times New Roman"/>
                <a:ea typeface="Times New Roman"/>
                <a:cs typeface="Times New Roman"/>
                <a:sym typeface="Times New Roman"/>
              </a:defRPr>
            </a:pPr>
            <a:r>
              <a:t>•Make informed decisions without visiting multiple websites manually</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136"/>
                                        </p:tgtEl>
                                        <p:attrNameLst>
                                          <p:attrName>style.visibility</p:attrName>
                                        </p:attrNameLst>
                                      </p:cBhvr>
                                      <p:to>
                                        <p:strVal val="visible"/>
                                      </p:to>
                                    </p:set>
                                    <p:animEffect filter="wipe(left)" transition="in">
                                      <p:cBhvr>
                                        <p:cTn id="7" dur="500"/>
                                        <p:tgtEl>
                                          <p:spTgt spid="1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6" grpId="1"/>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Title 1"/>
          <p:cNvSpPr txBox="1"/>
          <p:nvPr>
            <p:ph type="title"/>
          </p:nvPr>
        </p:nvSpPr>
        <p:spPr>
          <a:xfrm>
            <a:off x="838200" y="365125"/>
            <a:ext cx="10515600" cy="890906"/>
          </a:xfrm>
          <a:prstGeom prst="rect">
            <a:avLst/>
          </a:prstGeom>
        </p:spPr>
        <p:txBody>
          <a:bodyPr/>
          <a:lstStyle>
            <a:lvl1pPr>
              <a:defRPr b="1" u="sng">
                <a:solidFill>
                  <a:srgbClr val="FF0000"/>
                </a:solidFill>
              </a:defRPr>
            </a:lvl1pPr>
          </a:lstStyle>
          <a:p>
            <a:pPr/>
            <a:r>
              <a:t>Objective</a:t>
            </a:r>
          </a:p>
        </p:txBody>
      </p:sp>
      <p:sp>
        <p:nvSpPr>
          <p:cNvPr id="140" name="Rectangle 4"/>
          <p:cNvSpPr txBox="1"/>
          <p:nvPr/>
        </p:nvSpPr>
        <p:spPr>
          <a:xfrm>
            <a:off x="365310" y="1387883"/>
            <a:ext cx="11123408" cy="266605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p>
            <a:pPr marL="285750" indent="-285750" algn="just">
              <a:buSzPct val="100000"/>
              <a:buFont typeface="Times New Roman"/>
              <a:buChar char="➢"/>
              <a:defRPr sz="3000">
                <a:latin typeface="Times New Roman"/>
                <a:ea typeface="Times New Roman"/>
                <a:cs typeface="Times New Roman"/>
                <a:sym typeface="Times New Roman"/>
              </a:defRPr>
            </a:pPr>
            <a:r>
              <a:t>The objective of this code is to web scrape detailed information about medical colleges in India from the website ‘</a:t>
            </a:r>
            <a:r>
              <a:rPr u="sng">
                <a:solidFill>
                  <a:srgbClr val="0000FF"/>
                </a:solidFill>
                <a:uFill>
                  <a:solidFill>
                    <a:srgbClr val="0000FF"/>
                  </a:solidFill>
                </a:uFill>
                <a:hlinkClick r:id="rId2" invalidUrl="" action="" tgtFrame="" tooltip="" history="1" highlightClick="0" endSnd="0"/>
              </a:rPr>
              <a:t>indiaccess.com</a:t>
            </a:r>
            <a:r>
              <a:t>'. It iterates through 23 pages of the medical colleges listing (from page 1 to page 23) and extracts six key pieces of information for each college: the college name, city, full address, year established, ownership type, and affiliated university.</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139"/>
                                        </p:tgtEl>
                                        <p:attrNameLst>
                                          <p:attrName>style.visibility</p:attrName>
                                        </p:attrNameLst>
                                      </p:cBhvr>
                                      <p:to>
                                        <p:strVal val="visible"/>
                                      </p:to>
                                    </p:set>
                                    <p:animEffect filter="wipe(left)" transition="in">
                                      <p:cBhvr>
                                        <p:cTn id="7" dur="500"/>
                                        <p:tgtEl>
                                          <p:spTgt spid="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9" grpId="1"/>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Title 1"/>
          <p:cNvSpPr txBox="1"/>
          <p:nvPr>
            <p:ph type="title"/>
          </p:nvPr>
        </p:nvSpPr>
        <p:spPr>
          <a:xfrm>
            <a:off x="838200" y="365124"/>
            <a:ext cx="10515600" cy="774068"/>
          </a:xfrm>
          <a:prstGeom prst="rect">
            <a:avLst/>
          </a:prstGeom>
        </p:spPr>
        <p:txBody>
          <a:bodyPr/>
          <a:lstStyle>
            <a:lvl1pPr>
              <a:defRPr b="1" u="sng">
                <a:solidFill>
                  <a:srgbClr val="FF0000"/>
                </a:solidFill>
              </a:defRPr>
            </a:lvl1pPr>
          </a:lstStyle>
          <a:p>
            <a:pPr/>
            <a:r>
              <a:t>Use Case</a:t>
            </a:r>
          </a:p>
        </p:txBody>
      </p:sp>
      <p:sp>
        <p:nvSpPr>
          <p:cNvPr id="143" name="TextBox 3"/>
          <p:cNvSpPr txBox="1"/>
          <p:nvPr/>
        </p:nvSpPr>
        <p:spPr>
          <a:xfrm>
            <a:off x="608149" y="1410334"/>
            <a:ext cx="11271967" cy="282169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just">
              <a:defRPr sz="2400">
                <a:latin typeface="Times New Roman"/>
                <a:ea typeface="Times New Roman"/>
                <a:cs typeface="Times New Roman"/>
                <a:sym typeface="Times New Roman"/>
              </a:defRPr>
            </a:pPr>
            <a:r>
              <a:t>•Students will use the output to compare medical colleges based on city, ownership type, establishment year, and affiliation before choosing where to apply for MBBS.</a:t>
            </a:r>
          </a:p>
          <a:p>
            <a:pPr algn="just">
              <a:defRPr sz="2400">
                <a:latin typeface="Times New Roman"/>
                <a:ea typeface="Times New Roman"/>
                <a:cs typeface="Times New Roman"/>
                <a:sym typeface="Times New Roman"/>
              </a:defRPr>
            </a:pPr>
          </a:p>
          <a:p>
            <a:pPr algn="just">
              <a:defRPr sz="2400">
                <a:latin typeface="Times New Roman"/>
                <a:ea typeface="Times New Roman"/>
                <a:cs typeface="Times New Roman"/>
                <a:sym typeface="Times New Roman"/>
              </a:defRPr>
            </a:pPr>
            <a:r>
              <a:t>•Researchers will use the dataset to study trends in India’s medical education system, such as the distribution of government vs. private colleges and regional coverage across cities.</a:t>
            </a:r>
          </a:p>
          <a:p>
            <a:pPr algn="just">
              <a:defRPr sz="2400">
                <a:latin typeface="Times New Roman"/>
                <a:ea typeface="Times New Roman"/>
                <a:cs typeface="Times New Roman"/>
                <a:sym typeface="Times New Roman"/>
              </a:defRPr>
            </a:pPr>
          </a:p>
          <a:p>
            <a:pPr algn="just">
              <a:defRPr sz="2400">
                <a:latin typeface="Times New Roman"/>
                <a:ea typeface="Times New Roman"/>
                <a:cs typeface="Times New Roman"/>
                <a:sym typeface="Times New Roman"/>
              </a:defRPr>
            </a:pPr>
            <a:r>
              <a:t>•Educational platforms will use the cleaned data to build searchable online directories where users can filter and browse medical colleges by various criteria.</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142"/>
                                        </p:tgtEl>
                                        <p:attrNameLst>
                                          <p:attrName>style.visibility</p:attrName>
                                        </p:attrNameLst>
                                      </p:cBhvr>
                                      <p:to>
                                        <p:strVal val="visible"/>
                                      </p:to>
                                    </p:set>
                                    <p:animEffect filter="wipe(left)" transition="in">
                                      <p:cBhvr>
                                        <p:cTn id="7" dur="500"/>
                                        <p:tgtEl>
                                          <p:spTgt spid="142"/>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4" presetID="2" grpId="2" fill="hold">
                                  <p:stCondLst>
                                    <p:cond delay="0"/>
                                  </p:stCondLst>
                                  <p:iterate type="el" backwards="0">
                                    <p:tmAbs val="0"/>
                                  </p:iterate>
                                  <p:childTnLst>
                                    <p:set>
                                      <p:cBhvr>
                                        <p:cTn id="11" fill="hold"/>
                                        <p:tgtEl>
                                          <p:spTgt spid="143"/>
                                        </p:tgtEl>
                                        <p:attrNameLst>
                                          <p:attrName>style.visibility</p:attrName>
                                        </p:attrNameLst>
                                      </p:cBhvr>
                                      <p:to>
                                        <p:strVal val="visible"/>
                                      </p:to>
                                    </p:set>
                                    <p:anim calcmode="lin" valueType="num">
                                      <p:cBhvr>
                                        <p:cTn id="12" dur="500" fill="hold"/>
                                        <p:tgtEl>
                                          <p:spTgt spid="143"/>
                                        </p:tgtEl>
                                        <p:attrNameLst>
                                          <p:attrName>ppt_x</p:attrName>
                                        </p:attrNameLst>
                                      </p:cBhvr>
                                      <p:tavLst>
                                        <p:tav tm="0">
                                          <p:val>
                                            <p:strVal val="#ppt_x"/>
                                          </p:val>
                                        </p:tav>
                                        <p:tav tm="100000">
                                          <p:val>
                                            <p:strVal val="#ppt_x"/>
                                          </p:val>
                                        </p:tav>
                                      </p:tavLst>
                                    </p:anim>
                                    <p:anim calcmode="lin" valueType="num">
                                      <p:cBhvr>
                                        <p:cTn id="13" dur="500" fill="hold"/>
                                        <p:tgtEl>
                                          <p:spTgt spid="1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3" grpId="2"/>
      <p:bldP build="whole" bldLvl="1" animBg="1" rev="0" advAuto="0" spid="142" grpId="1"/>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Title 1"/>
          <p:cNvSpPr txBox="1"/>
          <p:nvPr>
            <p:ph type="title"/>
          </p:nvPr>
        </p:nvSpPr>
        <p:spPr>
          <a:xfrm>
            <a:off x="838200" y="352250"/>
            <a:ext cx="10515600" cy="1141731"/>
          </a:xfrm>
          <a:prstGeom prst="rect">
            <a:avLst/>
          </a:prstGeom>
        </p:spPr>
        <p:txBody>
          <a:bodyPr/>
          <a:lstStyle>
            <a:lvl1pPr>
              <a:defRPr b="1" u="sng">
                <a:solidFill>
                  <a:srgbClr val="FF0000"/>
                </a:solidFill>
              </a:defRPr>
            </a:lvl1pPr>
          </a:lstStyle>
          <a:p>
            <a:pPr/>
            <a:r>
              <a:t>Web Scraping Process</a:t>
            </a:r>
          </a:p>
        </p:txBody>
      </p:sp>
      <p:sp>
        <p:nvSpPr>
          <p:cNvPr id="146" name="Text Box 2"/>
          <p:cNvSpPr txBox="1"/>
          <p:nvPr/>
        </p:nvSpPr>
        <p:spPr>
          <a:xfrm>
            <a:off x="596900" y="1691004"/>
            <a:ext cx="10630535" cy="368529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342900" indent="-342900" algn="just">
              <a:spcBef>
                <a:spcPts val="1900"/>
              </a:spcBef>
              <a:buClr>
                <a:srgbClr val="000000"/>
              </a:buClr>
              <a:buSzPct val="100000"/>
              <a:buFont typeface="Times New Roman"/>
              <a:buChar char="➢"/>
              <a:defRPr spc="-50" sz="2400">
                <a:latin typeface="Times New Roman"/>
                <a:ea typeface="Times New Roman"/>
                <a:cs typeface="Times New Roman"/>
                <a:sym typeface="Times New Roman"/>
              </a:defRPr>
            </a:pPr>
            <a:r>
              <a:t>Import Required Libraries :</a:t>
            </a:r>
          </a:p>
          <a:p>
            <a:pPr marL="342900" indent="-342900" algn="just">
              <a:spcBef>
                <a:spcPts val="1900"/>
              </a:spcBef>
              <a:buClr>
                <a:srgbClr val="000000"/>
              </a:buClr>
              <a:buSzPct val="100000"/>
              <a:buFont typeface="Times New Roman"/>
              <a:buChar char="➢"/>
              <a:defRPr spc="-50" sz="2400">
                <a:latin typeface="Times New Roman"/>
                <a:ea typeface="Times New Roman"/>
                <a:cs typeface="Times New Roman"/>
                <a:sym typeface="Times New Roman"/>
              </a:defRPr>
            </a:pPr>
            <a:r>
              <a:t>Requests library to fetch web pages</a:t>
            </a:r>
          </a:p>
          <a:p>
            <a:pPr marL="342900" indent="-342900" algn="just">
              <a:spcBef>
                <a:spcPts val="1900"/>
              </a:spcBef>
              <a:buClr>
                <a:srgbClr val="000000"/>
              </a:buClr>
              <a:buSzPct val="100000"/>
              <a:buFont typeface="Times New Roman"/>
              <a:buChar char="➢"/>
              <a:defRPr spc="-50" sz="2400">
                <a:latin typeface="Times New Roman"/>
                <a:ea typeface="Times New Roman"/>
                <a:cs typeface="Times New Roman"/>
                <a:sym typeface="Times New Roman"/>
              </a:defRPr>
            </a:pPr>
            <a:r>
              <a:t>BeautifulSoup for parsing HTML content</a:t>
            </a:r>
          </a:p>
          <a:p>
            <a:pPr marL="342900" indent="-342900" algn="just">
              <a:spcBef>
                <a:spcPts val="1900"/>
              </a:spcBef>
              <a:buClr>
                <a:srgbClr val="000000"/>
              </a:buClr>
              <a:buSzPct val="100000"/>
              <a:buFont typeface="Times New Roman"/>
              <a:buChar char="➢"/>
              <a:defRPr spc="-50" sz="2400">
                <a:latin typeface="Times New Roman"/>
                <a:ea typeface="Times New Roman"/>
                <a:cs typeface="Times New Roman"/>
                <a:sym typeface="Times New Roman"/>
              </a:defRPr>
            </a:pPr>
            <a:r>
              <a:t>Regular expressions (regex) for extracting specific patterns like years and ownership types</a:t>
            </a:r>
          </a:p>
          <a:p>
            <a:pPr marL="342900" indent="-342900" algn="just">
              <a:spcBef>
                <a:spcPts val="1900"/>
              </a:spcBef>
              <a:buClr>
                <a:srgbClr val="000000"/>
              </a:buClr>
              <a:buSzPct val="100000"/>
              <a:buFont typeface="Times New Roman"/>
              <a:buChar char="➢"/>
              <a:defRPr spc="-50" sz="2400">
                <a:latin typeface="Times New Roman"/>
                <a:ea typeface="Times New Roman"/>
                <a:cs typeface="Times New Roman"/>
                <a:sym typeface="Times New Roman"/>
              </a:defRPr>
            </a:pPr>
            <a:r>
              <a:t>Pandas for organizing data into a structured table format</a:t>
            </a:r>
          </a:p>
          <a:p>
            <a:pPr marL="342900" indent="-342900" algn="just">
              <a:spcBef>
                <a:spcPts val="1900"/>
              </a:spcBef>
              <a:buClr>
                <a:srgbClr val="000000"/>
              </a:buClr>
              <a:buSzPct val="100000"/>
              <a:buFont typeface="Times New Roman"/>
              <a:buChar char="➢"/>
              <a:defRPr spc="-50" sz="2400">
                <a:latin typeface="Times New Roman"/>
                <a:ea typeface="Times New Roman"/>
                <a:cs typeface="Times New Roman"/>
                <a:sym typeface="Times New Roman"/>
              </a:defRPr>
            </a:pPr>
            <a:r>
              <a:t>  numpy ,  matplotlib : For data analysis and visualization .</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 name="Title 1"/>
          <p:cNvSpPr txBox="1"/>
          <p:nvPr>
            <p:ph type="title"/>
          </p:nvPr>
        </p:nvSpPr>
        <p:spPr>
          <a:xfrm>
            <a:off x="838200" y="365125"/>
            <a:ext cx="10515600" cy="1045845"/>
          </a:xfrm>
          <a:prstGeom prst="rect">
            <a:avLst/>
          </a:prstGeom>
        </p:spPr>
        <p:txBody>
          <a:bodyPr/>
          <a:lstStyle>
            <a:lvl1pPr>
              <a:defRPr b="1" sz="4000" u="sng">
                <a:solidFill>
                  <a:srgbClr val="FF0000"/>
                </a:solidFill>
              </a:defRPr>
            </a:lvl1pPr>
          </a:lstStyle>
          <a:p>
            <a:pPr/>
            <a:r>
              <a:t>After Scraping/Before Data Cleaning</a:t>
            </a:r>
          </a:p>
        </p:txBody>
      </p:sp>
      <p:pic>
        <p:nvPicPr>
          <p:cNvPr id="149" name="Screenshot 2026-05-30 at 6.55.37 AM.png" descr="Screenshot 2026-05-30 at 6.55.37 AM.png"/>
          <p:cNvPicPr>
            <a:picLocks noChangeAspect="1"/>
          </p:cNvPicPr>
          <p:nvPr/>
        </p:nvPicPr>
        <p:blipFill>
          <a:blip r:embed="rId2">
            <a:extLst/>
          </a:blip>
          <a:stretch>
            <a:fillRect/>
          </a:stretch>
        </p:blipFill>
        <p:spPr>
          <a:xfrm>
            <a:off x="457544" y="1256093"/>
            <a:ext cx="9859809" cy="4929905"/>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148"/>
                                        </p:tgtEl>
                                        <p:attrNameLst>
                                          <p:attrName>style.visibility</p:attrName>
                                        </p:attrNameLst>
                                      </p:cBhvr>
                                      <p:to>
                                        <p:strVal val="visible"/>
                                      </p:to>
                                    </p:set>
                                    <p:animEffect filter="wipe(left)" transition="in">
                                      <p:cBhvr>
                                        <p:cTn id="7" dur="500"/>
                                        <p:tgtEl>
                                          <p:spTgt spid="1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8" grpId="1"/>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Title 1"/>
          <p:cNvSpPr txBox="1"/>
          <p:nvPr>
            <p:ph type="title"/>
          </p:nvPr>
        </p:nvSpPr>
        <p:spPr>
          <a:xfrm>
            <a:off x="838200" y="365124"/>
            <a:ext cx="10515600" cy="908687"/>
          </a:xfrm>
          <a:prstGeom prst="rect">
            <a:avLst/>
          </a:prstGeom>
        </p:spPr>
        <p:txBody>
          <a:bodyPr/>
          <a:lstStyle>
            <a:lvl1pPr>
              <a:defRPr b="1" sz="4000" u="sng">
                <a:solidFill>
                  <a:srgbClr val="FF0000"/>
                </a:solidFill>
              </a:defRPr>
            </a:lvl1pPr>
          </a:lstStyle>
          <a:p>
            <a:pPr/>
            <a:r>
              <a:t>Summary Of The Data</a:t>
            </a:r>
          </a:p>
        </p:txBody>
      </p:sp>
      <p:grpSp>
        <p:nvGrpSpPr>
          <p:cNvPr id="154" name="Screenshot 2026-05-30 at 12.13.04 PM.png"/>
          <p:cNvGrpSpPr/>
          <p:nvPr/>
        </p:nvGrpSpPr>
        <p:grpSpPr>
          <a:xfrm>
            <a:off x="720294" y="1225462"/>
            <a:ext cx="6681547" cy="5464621"/>
            <a:chOff x="0" y="0"/>
            <a:chExt cx="6681546" cy="5464619"/>
          </a:xfrm>
        </p:grpSpPr>
        <p:pic>
          <p:nvPicPr>
            <p:cNvPr id="152" name="Screenshot 2026-05-30 at 12.13.04 PM.png" descr="Screenshot 2026-05-30 at 12.13.04 PM.png"/>
            <p:cNvPicPr>
              <a:picLocks noChangeAspect="1"/>
            </p:cNvPicPr>
            <p:nvPr/>
          </p:nvPicPr>
          <p:blipFill>
            <a:blip r:embed="rId2">
              <a:extLst/>
            </a:blip>
            <a:stretch>
              <a:fillRect/>
            </a:stretch>
          </p:blipFill>
          <p:spPr>
            <a:xfrm>
              <a:off x="203199" y="203200"/>
              <a:ext cx="6275148" cy="5020119"/>
            </a:xfrm>
            <a:prstGeom prst="rect">
              <a:avLst/>
            </a:prstGeom>
            <a:ln w="12700" cap="flat">
              <a:noFill/>
              <a:miter lim="400000"/>
            </a:ln>
            <a:effectLst/>
          </p:spPr>
        </p:pic>
        <p:pic>
          <p:nvPicPr>
            <p:cNvPr id="153" name="Screenshot 2026-05-30 at 12.13.04 PM.png" descr="Screenshot 2026-05-30 at 12.13.04 PM.png"/>
            <p:cNvPicPr>
              <a:picLocks noChangeAspect="1"/>
            </p:cNvPicPr>
            <p:nvPr/>
          </p:nvPicPr>
          <p:blipFill>
            <a:blip r:embed="rId3">
              <a:extLst/>
            </a:blip>
            <a:stretch>
              <a:fillRect/>
            </a:stretch>
          </p:blipFill>
          <p:spPr>
            <a:xfrm>
              <a:off x="0" y="-1"/>
              <a:ext cx="6681547" cy="5464621"/>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 name="Title 1"/>
          <p:cNvSpPr txBox="1"/>
          <p:nvPr>
            <p:ph type="title"/>
          </p:nvPr>
        </p:nvSpPr>
        <p:spPr>
          <a:xfrm>
            <a:off x="838200" y="365125"/>
            <a:ext cx="10515600" cy="860425"/>
          </a:xfrm>
          <a:prstGeom prst="rect">
            <a:avLst/>
          </a:prstGeom>
        </p:spPr>
        <p:txBody>
          <a:bodyPr/>
          <a:lstStyle>
            <a:lvl1pPr>
              <a:defRPr b="1" sz="4000" u="sng">
                <a:solidFill>
                  <a:srgbClr val="FF0000"/>
                </a:solidFill>
              </a:defRPr>
            </a:lvl1pPr>
          </a:lstStyle>
          <a:p>
            <a:pPr/>
            <a:r>
              <a:t>Data Cleaning Steps</a:t>
            </a:r>
          </a:p>
        </p:txBody>
      </p:sp>
      <p:sp>
        <p:nvSpPr>
          <p:cNvPr id="157" name="After scraping, the data usually exists as raw Python lists and may contain extra spaces, missing values, repeated text, or uneven lengths. This is the intermediate stage before converting everything into a proper DataFrame for analysis."/>
          <p:cNvSpPr txBox="1"/>
          <p:nvPr/>
        </p:nvSpPr>
        <p:spPr>
          <a:xfrm>
            <a:off x="494366" y="1369687"/>
            <a:ext cx="11551550" cy="180245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just" defTabSz="457200">
              <a:defRPr sz="3000">
                <a:latin typeface="Times New Roman"/>
                <a:ea typeface="Times New Roman"/>
                <a:cs typeface="Times New Roman"/>
                <a:sym typeface="Times New Roman"/>
              </a:defRPr>
            </a:lvl1pPr>
          </a:lstStyle>
          <a:p>
            <a:pPr/>
            <a:r>
              <a:t>After scraping, the data usually exists as raw Python lists and may contain extra spaces, missing values, repeated text, or uneven lengths. This is the intermediate stage before converting everything into a proper DataFrame for analysis.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Text Box 1"/>
          <p:cNvSpPr txBox="1"/>
          <p:nvPr/>
        </p:nvSpPr>
        <p:spPr>
          <a:xfrm>
            <a:off x="1134108" y="346075"/>
            <a:ext cx="4759962" cy="60162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4000" u="sng">
                <a:solidFill>
                  <a:srgbClr val="FF0000"/>
                </a:solidFill>
                <a:latin typeface="Calibri"/>
                <a:ea typeface="Calibri"/>
                <a:cs typeface="Calibri"/>
                <a:sym typeface="Calibri"/>
              </a:defRPr>
            </a:lvl1pPr>
          </a:lstStyle>
          <a:p>
            <a:pPr/>
            <a:r>
              <a:t>After Data Cleaning</a:t>
            </a:r>
          </a:p>
        </p:txBody>
      </p:sp>
      <p:pic>
        <p:nvPicPr>
          <p:cNvPr id="160" name="Screenshot 2026-05-30 at 7.19.59 AM.png" descr="Screenshot 2026-05-30 at 7.19.59 AM.png"/>
          <p:cNvPicPr>
            <a:picLocks noChangeAspect="1"/>
          </p:cNvPicPr>
          <p:nvPr/>
        </p:nvPicPr>
        <p:blipFill>
          <a:blip r:embed="rId2">
            <a:extLst/>
          </a:blip>
          <a:stretch>
            <a:fillRect/>
          </a:stretch>
        </p:blipFill>
        <p:spPr>
          <a:xfrm>
            <a:off x="612667" y="1087967"/>
            <a:ext cx="8111319" cy="5315774"/>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Text Box 3"/>
          <p:cNvSpPr txBox="1"/>
          <p:nvPr/>
        </p:nvSpPr>
        <p:spPr>
          <a:xfrm>
            <a:off x="575308" y="346075"/>
            <a:ext cx="4796158" cy="60162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4000" u="sng">
                <a:solidFill>
                  <a:srgbClr val="FF0000"/>
                </a:solidFill>
                <a:latin typeface="Calibri"/>
                <a:ea typeface="Calibri"/>
                <a:cs typeface="Calibri"/>
                <a:sym typeface="Calibri"/>
              </a:defRPr>
            </a:lvl1pPr>
          </a:lstStyle>
          <a:p>
            <a:pPr/>
            <a:r>
              <a:t>Data Visualization</a:t>
            </a:r>
          </a:p>
        </p:txBody>
      </p:sp>
      <p:sp>
        <p:nvSpPr>
          <p:cNvPr id="163" name="Text Box 4"/>
          <p:cNvSpPr txBox="1"/>
          <p:nvPr/>
        </p:nvSpPr>
        <p:spPr>
          <a:xfrm>
            <a:off x="662303" y="1168400"/>
            <a:ext cx="3375028" cy="49704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3200">
                <a:latin typeface="Calibri"/>
                <a:ea typeface="Calibri"/>
                <a:cs typeface="Calibri"/>
                <a:sym typeface="Calibri"/>
              </a:defRPr>
            </a:lvl1pPr>
          </a:lstStyle>
          <a:p>
            <a:pPr/>
            <a:r>
              <a:t>Univariate Analysis</a:t>
            </a:r>
          </a:p>
        </p:txBody>
      </p:sp>
      <p:grpSp>
        <p:nvGrpSpPr>
          <p:cNvPr id="166" name="Screenshot 2026-05-30 at 12.28.12 PM.png"/>
          <p:cNvGrpSpPr/>
          <p:nvPr/>
        </p:nvGrpSpPr>
        <p:grpSpPr>
          <a:xfrm>
            <a:off x="12077" y="1694658"/>
            <a:ext cx="5922622" cy="3837416"/>
            <a:chOff x="0" y="0"/>
            <a:chExt cx="5922620" cy="3837414"/>
          </a:xfrm>
        </p:grpSpPr>
        <p:pic>
          <p:nvPicPr>
            <p:cNvPr id="164" name="Screenshot 2026-05-30 at 12.28.12 PM.png" descr="Screenshot 2026-05-30 at 12.28.12 PM.png"/>
            <p:cNvPicPr>
              <a:picLocks noChangeAspect="1"/>
            </p:cNvPicPr>
            <p:nvPr/>
          </p:nvPicPr>
          <p:blipFill>
            <a:blip r:embed="rId2">
              <a:extLst/>
            </a:blip>
            <a:stretch>
              <a:fillRect/>
            </a:stretch>
          </p:blipFill>
          <p:spPr>
            <a:xfrm>
              <a:off x="203199" y="203200"/>
              <a:ext cx="5516222" cy="3392914"/>
            </a:xfrm>
            <a:prstGeom prst="rect">
              <a:avLst/>
            </a:prstGeom>
            <a:ln w="12700" cap="flat">
              <a:noFill/>
              <a:miter lim="400000"/>
            </a:ln>
            <a:effectLst/>
          </p:spPr>
        </p:pic>
        <p:pic>
          <p:nvPicPr>
            <p:cNvPr id="165" name="Screenshot 2026-05-30 at 12.28.12 PM.png" descr="Screenshot 2026-05-30 at 12.28.12 PM.png"/>
            <p:cNvPicPr>
              <a:picLocks noChangeAspect="1"/>
            </p:cNvPicPr>
            <p:nvPr/>
          </p:nvPicPr>
          <p:blipFill>
            <a:blip r:embed="rId3">
              <a:extLst/>
            </a:blip>
            <a:stretch>
              <a:fillRect/>
            </a:stretch>
          </p:blipFill>
          <p:spPr>
            <a:xfrm>
              <a:off x="-1" y="-1"/>
              <a:ext cx="5922622" cy="3837416"/>
            </a:xfrm>
            <a:prstGeom prst="rect">
              <a:avLst/>
            </a:prstGeom>
            <a:ln w="12700" cap="flat">
              <a:noFill/>
              <a:miter lim="400000"/>
            </a:ln>
            <a:effectLst/>
          </p:spPr>
        </p:pic>
      </p:grpSp>
      <p:sp>
        <p:nvSpPr>
          <p:cNvPr id="167" name="This horizontal bar chart represents a Univariate Analysis of college ownership, showing the distribution of &quot;Government&quot; versus &quot;Private&quot; institutions in a specific dataset.…"/>
          <p:cNvSpPr txBox="1"/>
          <p:nvPr/>
        </p:nvSpPr>
        <p:spPr>
          <a:xfrm>
            <a:off x="6266195" y="1669906"/>
            <a:ext cx="5264173" cy="437217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just">
              <a:defRPr sz="2200">
                <a:latin typeface="Times New Roman"/>
                <a:ea typeface="Times New Roman"/>
                <a:cs typeface="Times New Roman"/>
                <a:sym typeface="Times New Roman"/>
              </a:defRPr>
            </a:pPr>
            <a:r>
              <a:t>This horizontal bar chart represents a Univariate Analysis of college ownership, showing the distribution of "Government" versus "Private" institutions in a specific dataset.</a:t>
            </a:r>
          </a:p>
          <a:p>
            <a:pPr algn="just">
              <a:defRPr sz="2200">
                <a:latin typeface="Times New Roman"/>
                <a:ea typeface="Times New Roman"/>
                <a:cs typeface="Times New Roman"/>
                <a:sym typeface="Times New Roman"/>
              </a:defRPr>
            </a:pPr>
            <a:r>
              <a:t>Approximate Counts:</a:t>
            </a:r>
          </a:p>
          <a:p>
            <a:pPr algn="just">
              <a:defRPr sz="2200">
                <a:latin typeface="Times New Roman"/>
                <a:ea typeface="Times New Roman"/>
                <a:cs typeface="Times New Roman"/>
                <a:sym typeface="Times New Roman"/>
              </a:defRPr>
            </a:pPr>
            <a:r>
              <a:t>Government: There are approximately 450 colleges.</a:t>
            </a:r>
          </a:p>
          <a:p>
            <a:pPr algn="just">
              <a:defRPr sz="2200">
                <a:latin typeface="Times New Roman"/>
                <a:ea typeface="Times New Roman"/>
                <a:cs typeface="Times New Roman"/>
                <a:sym typeface="Times New Roman"/>
              </a:defRPr>
            </a:pPr>
            <a:r>
              <a:t>Private: There are approximately 320 colleges.</a:t>
            </a:r>
          </a:p>
          <a:p>
            <a:pPr algn="just">
              <a:defRPr sz="2200">
                <a:latin typeface="Times New Roman"/>
                <a:ea typeface="Times New Roman"/>
                <a:cs typeface="Times New Roman"/>
                <a:sym typeface="Times New Roman"/>
              </a:defRPr>
            </a:pPr>
            <a:r>
              <a:t>Comparison: There are roughly 1.4 times as many government colleges as there are private colleges in this data.</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9" name="Screenshot 2026-05-30 at 12.40.35 PM.png" descr="Screenshot 2026-05-30 at 12.40.35 PM.png"/>
          <p:cNvPicPr>
            <a:picLocks noChangeAspect="1"/>
          </p:cNvPicPr>
          <p:nvPr/>
        </p:nvPicPr>
        <p:blipFill>
          <a:blip r:embed="rId2">
            <a:extLst/>
          </a:blip>
          <a:stretch>
            <a:fillRect/>
          </a:stretch>
        </p:blipFill>
        <p:spPr>
          <a:xfrm>
            <a:off x="-86962" y="1151944"/>
            <a:ext cx="5598592" cy="3360388"/>
          </a:xfrm>
          <a:prstGeom prst="rect">
            <a:avLst/>
          </a:prstGeom>
          <a:ln w="12700">
            <a:miter lim="400000"/>
          </a:ln>
        </p:spPr>
      </p:pic>
      <p:sp>
        <p:nvSpPr>
          <p:cNvPr id="170" name="This bar chart visualizes the number of colleges in major Indian cities, segmented by their ownership type (Government or Private).…"/>
          <p:cNvSpPr txBox="1"/>
          <p:nvPr/>
        </p:nvSpPr>
        <p:spPr>
          <a:xfrm>
            <a:off x="6218235" y="1278671"/>
            <a:ext cx="5598593" cy="453619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just">
              <a:defRPr sz="2400">
                <a:latin typeface="Times New Roman"/>
                <a:ea typeface="Times New Roman"/>
                <a:cs typeface="Times New Roman"/>
                <a:sym typeface="Times New Roman"/>
              </a:defRPr>
            </a:pPr>
            <a:r>
              <a:t>This bar chart visualizes the number of colleges in major Indian cities, segmented by their ownership type (Government or Private).</a:t>
            </a:r>
          </a:p>
          <a:p>
            <a:pPr algn="just">
              <a:defRPr sz="2400">
                <a:latin typeface="Times New Roman"/>
                <a:ea typeface="Times New Roman"/>
                <a:cs typeface="Times New Roman"/>
                <a:sym typeface="Times New Roman"/>
              </a:defRPr>
            </a:pPr>
            <a:r>
              <a:t>Top Cities by Count: New Delhi has the highest total number of colleges shown in the chart, primarily driven by a very large number of Government colleges.</a:t>
            </a:r>
          </a:p>
          <a:p>
            <a:pPr algn="just">
              <a:defRPr sz="2400">
                <a:latin typeface="Times New Roman"/>
                <a:ea typeface="Times New Roman"/>
                <a:cs typeface="Times New Roman"/>
                <a:sym typeface="Times New Roman"/>
              </a:defRPr>
            </a:pPr>
            <a:r>
              <a:t>Private vs. Government: While New Delhi is dominated by government colleges, cities like Chennai and Hyderabad show a higher prevalence of Private colleges compared to their government colleges.</a:t>
            </a:r>
          </a:p>
        </p:txBody>
      </p:sp>
      <p:sp>
        <p:nvSpPr>
          <p:cNvPr id="171" name="Comparison of Government vs. Private Colleges in Major Indian Cities"/>
          <p:cNvSpPr txBox="1"/>
          <p:nvPr/>
        </p:nvSpPr>
        <p:spPr>
          <a:xfrm>
            <a:off x="332700" y="241365"/>
            <a:ext cx="10982173" cy="507054"/>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lnSpc>
                <a:spcPct val="90000"/>
              </a:lnSpc>
              <a:defRPr sz="3000">
                <a:latin typeface="Times New Roman"/>
                <a:ea typeface="Times New Roman"/>
                <a:cs typeface="Times New Roman"/>
                <a:sym typeface="Times New Roman"/>
              </a:defRPr>
            </a:lvl1pPr>
          </a:lstStyle>
          <a:p>
            <a:pPr/>
            <a:r>
              <a:t>Comparison of Government vs. Private Colleges in Major Indian Cities</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75" name="Screenshot 2026-05-30 at 12.57.43 PM.png"/>
          <p:cNvGrpSpPr/>
          <p:nvPr/>
        </p:nvGrpSpPr>
        <p:grpSpPr>
          <a:xfrm>
            <a:off x="2337161" y="1117397"/>
            <a:ext cx="6319537" cy="3297657"/>
            <a:chOff x="0" y="0"/>
            <a:chExt cx="6319536" cy="3297656"/>
          </a:xfrm>
        </p:grpSpPr>
        <p:pic>
          <p:nvPicPr>
            <p:cNvPr id="173" name="Screenshot 2026-05-30 at 12.57.43 PM.png" descr="Screenshot 2026-05-30 at 12.57.43 PM.png"/>
            <p:cNvPicPr>
              <a:picLocks noChangeAspect="1"/>
            </p:cNvPicPr>
            <p:nvPr/>
          </p:nvPicPr>
          <p:blipFill>
            <a:blip r:embed="rId2">
              <a:extLst/>
            </a:blip>
            <a:stretch>
              <a:fillRect/>
            </a:stretch>
          </p:blipFill>
          <p:spPr>
            <a:xfrm>
              <a:off x="203200" y="203200"/>
              <a:ext cx="5913137" cy="2853156"/>
            </a:xfrm>
            <a:prstGeom prst="rect">
              <a:avLst/>
            </a:prstGeom>
            <a:ln w="12700" cap="flat">
              <a:noFill/>
              <a:miter lim="400000"/>
            </a:ln>
            <a:effectLst/>
          </p:spPr>
        </p:pic>
        <p:pic>
          <p:nvPicPr>
            <p:cNvPr id="174" name="Screenshot 2026-05-30 at 12.57.43 PM.png" descr="Screenshot 2026-05-30 at 12.57.43 PM.png"/>
            <p:cNvPicPr>
              <a:picLocks noChangeAspect="1"/>
            </p:cNvPicPr>
            <p:nvPr/>
          </p:nvPicPr>
          <p:blipFill>
            <a:blip r:embed="rId3">
              <a:extLst/>
            </a:blip>
            <a:stretch>
              <a:fillRect/>
            </a:stretch>
          </p:blipFill>
          <p:spPr>
            <a:xfrm>
              <a:off x="0" y="-1"/>
              <a:ext cx="6319537" cy="3297657"/>
            </a:xfrm>
            <a:prstGeom prst="rect">
              <a:avLst/>
            </a:prstGeom>
            <a:ln w="12700" cap="flat">
              <a:noFill/>
              <a:miter lim="400000"/>
            </a:ln>
            <a:effectLst/>
          </p:spPr>
        </p:pic>
      </p:grpSp>
      <p:sp>
        <p:nvSpPr>
          <p:cNvPr id="176" name="The pie chart visualizing the distribution of affiliated colleges.…"/>
          <p:cNvSpPr txBox="1"/>
          <p:nvPr/>
        </p:nvSpPr>
        <p:spPr>
          <a:xfrm>
            <a:off x="403817" y="4636342"/>
            <a:ext cx="11617288" cy="166760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just">
              <a:defRPr sz="2100">
                <a:latin typeface="Times New Roman"/>
                <a:ea typeface="Times New Roman"/>
                <a:cs typeface="Times New Roman"/>
                <a:sym typeface="Times New Roman"/>
              </a:defRPr>
            </a:pPr>
            <a:r>
              <a:t>The pie chart visualizing the distribution of affiliated colleges.</a:t>
            </a:r>
          </a:p>
          <a:p>
            <a:pPr algn="just">
              <a:defRPr sz="2100">
                <a:latin typeface="Times New Roman"/>
                <a:ea typeface="Times New Roman"/>
                <a:cs typeface="Times New Roman"/>
                <a:sym typeface="Times New Roman"/>
              </a:defRPr>
            </a:pPr>
            <a:r>
              <a:t>Chart Purpose: The pie chart represents the percentage share of various institutions, with larger slices indicating a greater proportional contribution.</a:t>
            </a:r>
          </a:p>
          <a:p>
            <a:pPr algn="just">
              <a:defRPr sz="2100">
                <a:latin typeface="Times New Roman"/>
                <a:ea typeface="Times New Roman"/>
                <a:cs typeface="Times New Roman"/>
                <a:sym typeface="Times New Roman"/>
              </a:defRPr>
            </a:pPr>
            <a:r>
              <a:t>Data Representation: Individual slices are colored to distinguish between institutions, and numeric percentages are displayed within or alongside each slice.</a:t>
            </a:r>
          </a:p>
        </p:txBody>
      </p:sp>
      <p:sp>
        <p:nvSpPr>
          <p:cNvPr id="177" name="Distribution of affiliated colleges:"/>
          <p:cNvSpPr txBox="1"/>
          <p:nvPr>
            <p:ph type="title" idx="4294967295"/>
          </p:nvPr>
        </p:nvSpPr>
        <p:spPr>
          <a:xfrm>
            <a:off x="482144" y="223092"/>
            <a:ext cx="5283787" cy="673019"/>
          </a:xfrm>
          <a:prstGeom prst="rect">
            <a:avLst/>
          </a:prstGeom>
        </p:spPr>
        <p:txBody>
          <a:bodyPr/>
          <a:lstStyle>
            <a:lvl1pPr defTabSz="859536">
              <a:defRPr sz="3000">
                <a:solidFill>
                  <a:srgbClr val="7C1B20"/>
                </a:solidFill>
                <a:latin typeface="Times New Roman"/>
                <a:ea typeface="Times New Roman"/>
                <a:cs typeface="Times New Roman"/>
                <a:sym typeface="Times New Roman"/>
              </a:defRPr>
            </a:lvl1pPr>
          </a:lstStyle>
          <a:p>
            <a:pPr/>
            <a:r>
              <a:t>Distribution of affiliated colleges:</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Text Box 1"/>
          <p:cNvSpPr txBox="1"/>
          <p:nvPr/>
        </p:nvSpPr>
        <p:spPr>
          <a:xfrm>
            <a:off x="220373" y="134079"/>
            <a:ext cx="7179310" cy="43355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just">
              <a:defRPr sz="2500">
                <a:solidFill>
                  <a:srgbClr val="8247B1"/>
                </a:solidFill>
                <a:latin typeface="Times New Roman"/>
                <a:ea typeface="Times New Roman"/>
                <a:cs typeface="Times New Roman"/>
                <a:sym typeface="Times New Roman"/>
              </a:defRPr>
            </a:lvl1pPr>
          </a:lstStyle>
          <a:p>
            <a:pPr/>
            <a:r>
              <a:t>The distribution of college establishment years:</a:t>
            </a:r>
          </a:p>
        </p:txBody>
      </p:sp>
      <p:pic>
        <p:nvPicPr>
          <p:cNvPr id="180" name="Screenshot 2026-05-30 at 1.09.22 PM.png" descr="Screenshot 2026-05-30 at 1.09.22 PM.png"/>
          <p:cNvPicPr>
            <a:picLocks noChangeAspect="1"/>
          </p:cNvPicPr>
          <p:nvPr/>
        </p:nvPicPr>
        <p:blipFill>
          <a:blip r:embed="rId2">
            <a:extLst/>
          </a:blip>
          <a:stretch>
            <a:fillRect/>
          </a:stretch>
        </p:blipFill>
        <p:spPr>
          <a:xfrm>
            <a:off x="2084728" y="886670"/>
            <a:ext cx="6809974" cy="3389664"/>
          </a:xfrm>
          <a:prstGeom prst="rect">
            <a:avLst/>
          </a:prstGeom>
          <a:ln w="12700">
            <a:miter lim="400000"/>
          </a:ln>
        </p:spPr>
      </p:pic>
      <p:sp>
        <p:nvSpPr>
          <p:cNvPr id="181" name="The distribution of college establishment years:…"/>
          <p:cNvSpPr txBox="1"/>
          <p:nvPr/>
        </p:nvSpPr>
        <p:spPr>
          <a:xfrm>
            <a:off x="160078" y="4260782"/>
            <a:ext cx="11871844" cy="212534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just">
              <a:defRPr sz="2000">
                <a:latin typeface="Times New Roman"/>
                <a:ea typeface="Times New Roman"/>
                <a:cs typeface="Times New Roman"/>
                <a:sym typeface="Times New Roman"/>
              </a:defRPr>
            </a:pPr>
            <a:r>
              <a:t>The distribution of college establishment years:</a:t>
            </a:r>
          </a:p>
          <a:p>
            <a:pPr algn="just">
              <a:defRPr sz="2000">
                <a:latin typeface="Times New Roman"/>
                <a:ea typeface="Times New Roman"/>
                <a:cs typeface="Times New Roman"/>
                <a:sym typeface="Times New Roman"/>
              </a:defRPr>
            </a:pPr>
            <a:r>
              <a:t>Significant Growth Trend: The data shows a dramatic increase in the number of colleges established in the modern era, particularly accelerating after the mid-20th century.</a:t>
            </a:r>
          </a:p>
          <a:p>
            <a:pPr algn="just">
              <a:defRPr sz="2000">
                <a:latin typeface="Times New Roman"/>
                <a:ea typeface="Times New Roman"/>
                <a:cs typeface="Times New Roman"/>
                <a:sym typeface="Times New Roman"/>
              </a:defRPr>
            </a:pPr>
            <a:r>
              <a:t>Recent Peak: The highest frequency of college establishments occurs in the most recent bin (approximately 2000–2025), indicating a rapid expansion of higher education institutions in recent decades.</a:t>
            </a:r>
          </a:p>
          <a:p>
            <a:pPr algn="just">
              <a:defRPr sz="2000">
                <a:latin typeface="Times New Roman"/>
                <a:ea typeface="Times New Roman"/>
                <a:cs typeface="Times New Roman"/>
                <a:sym typeface="Times New Roman"/>
              </a:defRPr>
            </a:pPr>
            <a:r>
              <a:t>Historical Context: While there was some activity around 1830–1900, the data suggests a relatively slow pace of establishment until after 1950.</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3" name="Screenshot 2026-05-30 at 1.19.59 PM.png" descr="Screenshot 2026-05-30 at 1.19.59 PM.png"/>
          <p:cNvPicPr>
            <a:picLocks noChangeAspect="1"/>
          </p:cNvPicPr>
          <p:nvPr/>
        </p:nvPicPr>
        <p:blipFill>
          <a:blip r:embed="rId2">
            <a:extLst/>
          </a:blip>
          <a:stretch>
            <a:fillRect/>
          </a:stretch>
        </p:blipFill>
        <p:spPr>
          <a:xfrm>
            <a:off x="504478" y="562725"/>
            <a:ext cx="10752799" cy="5236565"/>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Text Box 1"/>
          <p:cNvSpPr txBox="1"/>
          <p:nvPr/>
        </p:nvSpPr>
        <p:spPr>
          <a:xfrm>
            <a:off x="251601" y="217341"/>
            <a:ext cx="3225400" cy="4970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3200">
                <a:latin typeface="Calibri"/>
                <a:ea typeface="Calibri"/>
                <a:cs typeface="Calibri"/>
                <a:sym typeface="Calibri"/>
              </a:defRPr>
            </a:lvl1pPr>
          </a:lstStyle>
          <a:p>
            <a:pPr/>
            <a:r>
              <a:t>Bi-Variate Analysis</a:t>
            </a:r>
          </a:p>
        </p:txBody>
      </p:sp>
      <p:grpSp>
        <p:nvGrpSpPr>
          <p:cNvPr id="188" name="Screenshot 2026-05-30 at 1.22.27 PM.png"/>
          <p:cNvGrpSpPr/>
          <p:nvPr/>
        </p:nvGrpSpPr>
        <p:grpSpPr>
          <a:xfrm>
            <a:off x="2067786" y="1419801"/>
            <a:ext cx="5672826" cy="3042226"/>
            <a:chOff x="0" y="0"/>
            <a:chExt cx="5672825" cy="3042224"/>
          </a:xfrm>
        </p:grpSpPr>
        <p:pic>
          <p:nvPicPr>
            <p:cNvPr id="186" name="Screenshot 2026-05-30 at 1.22.27 PM.png" descr="Screenshot 2026-05-30 at 1.22.27 PM.png"/>
            <p:cNvPicPr>
              <a:picLocks noChangeAspect="1"/>
            </p:cNvPicPr>
            <p:nvPr/>
          </p:nvPicPr>
          <p:blipFill>
            <a:blip r:embed="rId2">
              <a:extLst/>
            </a:blip>
            <a:stretch>
              <a:fillRect/>
            </a:stretch>
          </p:blipFill>
          <p:spPr>
            <a:xfrm>
              <a:off x="203199" y="203200"/>
              <a:ext cx="5266426" cy="2597725"/>
            </a:xfrm>
            <a:prstGeom prst="rect">
              <a:avLst/>
            </a:prstGeom>
            <a:ln w="12700" cap="flat">
              <a:noFill/>
              <a:miter lim="400000"/>
            </a:ln>
            <a:effectLst/>
          </p:spPr>
        </p:pic>
        <p:pic>
          <p:nvPicPr>
            <p:cNvPr id="187" name="Screenshot 2026-05-30 at 1.22.27 PM.png" descr="Screenshot 2026-05-30 at 1.22.27 PM.png"/>
            <p:cNvPicPr>
              <a:picLocks noChangeAspect="1"/>
            </p:cNvPicPr>
            <p:nvPr/>
          </p:nvPicPr>
          <p:blipFill>
            <a:blip r:embed="rId3">
              <a:extLst/>
            </a:blip>
            <a:stretch>
              <a:fillRect/>
            </a:stretch>
          </p:blipFill>
          <p:spPr>
            <a:xfrm>
              <a:off x="-1" y="0"/>
              <a:ext cx="5672826" cy="3042225"/>
            </a:xfrm>
            <a:prstGeom prst="rect">
              <a:avLst/>
            </a:prstGeom>
            <a:ln w="12700" cap="flat">
              <a:noFill/>
              <a:miter lim="400000"/>
            </a:ln>
            <a:effectLst/>
          </p:spPr>
        </p:pic>
      </p:grpSp>
      <p:sp>
        <p:nvSpPr>
          <p:cNvPr id="189" name="This scatter plot displays the distribution of colleges across various Indian cities based on their year of establishment.…"/>
          <p:cNvSpPr txBox="1"/>
          <p:nvPr/>
        </p:nvSpPr>
        <p:spPr>
          <a:xfrm>
            <a:off x="141891" y="4668092"/>
            <a:ext cx="11675183" cy="19116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just">
              <a:defRPr sz="1600">
                <a:latin typeface="Times New Roman"/>
                <a:ea typeface="Times New Roman"/>
                <a:cs typeface="Times New Roman"/>
                <a:sym typeface="Times New Roman"/>
              </a:defRPr>
            </a:pPr>
            <a:r>
              <a:t>This scatter plot displays the distribution of colleges across various Indian cities based on their year of establishment.</a:t>
            </a:r>
          </a:p>
          <a:p>
            <a:pPr algn="just">
              <a:defRPr sz="1600">
                <a:latin typeface="Times New Roman"/>
                <a:ea typeface="Times New Roman"/>
                <a:cs typeface="Times New Roman"/>
                <a:sym typeface="Times New Roman"/>
              </a:defRPr>
            </a:pPr>
            <a:r>
              <a:t>The vertical axis lists several cities, including Chennai, Kolkata, Mumbai, Lucknow, New Delhi, Hyderabad, Ahmedabad, Bengaluru, Bhopal, and Pune.</a:t>
            </a:r>
          </a:p>
          <a:p>
            <a:pPr algn="just">
              <a:defRPr sz="1600">
                <a:latin typeface="Times New Roman"/>
                <a:ea typeface="Times New Roman"/>
                <a:cs typeface="Times New Roman"/>
                <a:sym typeface="Times New Roman"/>
              </a:defRPr>
            </a:pPr>
            <a:r>
              <a:t>The horizontal axis represents the Established Year, ranging from approximately 1850 to 2025.</a:t>
            </a:r>
          </a:p>
          <a:p>
            <a:pPr algn="just">
              <a:defRPr sz="1600">
                <a:latin typeface="Times New Roman"/>
                <a:ea typeface="Times New Roman"/>
                <a:cs typeface="Times New Roman"/>
                <a:sym typeface="Times New Roman"/>
              </a:defRPr>
            </a:pPr>
            <a:r>
              <a:t>The plot uses a technique called jittering to slightly spread out overlapping points, making it easier to visualize the density of colleges established in similar years for each city.</a:t>
            </a:r>
          </a:p>
          <a:p>
            <a:pPr algn="just">
              <a:defRPr sz="1600">
                <a:latin typeface="Times New Roman"/>
                <a:ea typeface="Times New Roman"/>
                <a:cs typeface="Times New Roman"/>
                <a:sym typeface="Times New Roman"/>
              </a:defRPr>
            </a:pPr>
            <a:r>
              <a:t>Data points indicate that the majority of colleges shown were established in the modern era, particularly between 1950 and 2025, with earlier institutions established as far back as the mid-19th century.</a:t>
            </a:r>
          </a:p>
        </p:txBody>
      </p:sp>
      <p:sp>
        <p:nvSpPr>
          <p:cNvPr id="190" name="City-wise Growth of Colleges (1850–Present):"/>
          <p:cNvSpPr txBox="1"/>
          <p:nvPr>
            <p:ph type="title" idx="4294967295"/>
          </p:nvPr>
        </p:nvSpPr>
        <p:spPr>
          <a:xfrm>
            <a:off x="225984" y="716687"/>
            <a:ext cx="5851365" cy="497048"/>
          </a:xfrm>
          <a:prstGeom prst="rect">
            <a:avLst/>
          </a:prstGeom>
        </p:spPr>
        <p:txBody>
          <a:bodyPr/>
          <a:lstStyle>
            <a:lvl1pPr defTabSz="886967">
              <a:defRPr sz="2400">
                <a:solidFill>
                  <a:srgbClr val="39731B"/>
                </a:solidFill>
                <a:latin typeface="Times New Roman"/>
                <a:ea typeface="Times New Roman"/>
                <a:cs typeface="Times New Roman"/>
                <a:sym typeface="Times New Roman"/>
              </a:defRPr>
            </a:lvl1pPr>
          </a:lstStyle>
          <a:p>
            <a:pPr/>
            <a:r>
              <a:t>City-wise Growth of Colleges (1850–Present):</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Text Box 2"/>
          <p:cNvSpPr txBox="1"/>
          <p:nvPr/>
        </p:nvSpPr>
        <p:spPr>
          <a:xfrm>
            <a:off x="813482" y="362237"/>
            <a:ext cx="3972562" cy="60162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4000" u="sng">
                <a:solidFill>
                  <a:srgbClr val="FF0000"/>
                </a:solidFill>
                <a:latin typeface="Calibri"/>
                <a:ea typeface="Calibri"/>
                <a:cs typeface="Calibri"/>
                <a:sym typeface="Calibri"/>
              </a:defRPr>
            </a:lvl1pPr>
          </a:lstStyle>
          <a:p>
            <a:pPr/>
            <a:r>
              <a:t>Recommendation</a:t>
            </a:r>
          </a:p>
        </p:txBody>
      </p:sp>
      <p:sp>
        <p:nvSpPr>
          <p:cNvPr id="193" name="Based on City:…"/>
          <p:cNvSpPr txBox="1"/>
          <p:nvPr/>
        </p:nvSpPr>
        <p:spPr>
          <a:xfrm>
            <a:off x="338339" y="889179"/>
            <a:ext cx="11737496" cy="536277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just">
              <a:defRPr sz="2200">
                <a:latin typeface="Times New Roman"/>
                <a:ea typeface="Times New Roman"/>
                <a:cs typeface="Times New Roman"/>
                <a:sym typeface="Times New Roman"/>
              </a:defRPr>
            </a:pPr>
            <a:r>
              <a:t>Based on City:</a:t>
            </a:r>
          </a:p>
          <a:p>
            <a:pPr algn="just">
              <a:defRPr sz="2200">
                <a:latin typeface="Times New Roman"/>
                <a:ea typeface="Times New Roman"/>
                <a:cs typeface="Times New Roman"/>
                <a:sym typeface="Times New Roman"/>
              </a:defRPr>
            </a:pPr>
            <a:r>
              <a:t>•Choose a city where you’re comfortable living (consider climate, language, food, and proximity to family)</a:t>
            </a:r>
          </a:p>
          <a:p>
            <a:pPr algn="just">
              <a:defRPr sz="2200">
                <a:latin typeface="Times New Roman"/>
                <a:ea typeface="Times New Roman"/>
                <a:cs typeface="Times New Roman"/>
                <a:sym typeface="Times New Roman"/>
              </a:defRPr>
            </a:pPr>
            <a:r>
              <a:t>•Prefer metro/tier-1 cities (Delhi, Mumbai, Bangalore, Chennai, Hyderabad) for better exposure, internships, and hospital rotations</a:t>
            </a:r>
          </a:p>
          <a:p>
            <a:pPr algn="just">
              <a:defRPr sz="2200">
                <a:latin typeface="Times New Roman"/>
                <a:ea typeface="Times New Roman"/>
                <a:cs typeface="Times New Roman"/>
                <a:sym typeface="Times New Roman"/>
              </a:defRPr>
            </a:pPr>
            <a:r>
              <a:t>•Consider tier-2/3 cities for lower living costs and less competition if budget is a concern</a:t>
            </a:r>
          </a:p>
          <a:p>
            <a:pPr algn="just">
              <a:defRPr sz="2200">
                <a:latin typeface="Times New Roman"/>
                <a:ea typeface="Times New Roman"/>
                <a:cs typeface="Times New Roman"/>
                <a:sym typeface="Times New Roman"/>
              </a:defRPr>
            </a:pPr>
            <a:r>
              <a:t>Based on Address:</a:t>
            </a:r>
          </a:p>
          <a:p>
            <a:pPr algn="just">
              <a:defRPr sz="2200">
                <a:latin typeface="Times New Roman"/>
                <a:ea typeface="Times New Roman"/>
                <a:cs typeface="Times New Roman"/>
                <a:sym typeface="Times New Roman"/>
              </a:defRPr>
            </a:pPr>
            <a:r>
              <a:t>•Check the exact location for accessibility (near public transport, hospitals, hostels)</a:t>
            </a:r>
          </a:p>
          <a:p>
            <a:pPr algn="just">
              <a:defRPr sz="2200">
                <a:latin typeface="Times New Roman"/>
                <a:ea typeface="Times New Roman"/>
                <a:cs typeface="Times New Roman"/>
                <a:sym typeface="Times New Roman"/>
              </a:defRPr>
            </a:pPr>
            <a:r>
              <a:t>•Verify if the college is in a safe, central area or a remote location</a:t>
            </a:r>
          </a:p>
          <a:p>
            <a:pPr algn="just">
              <a:defRPr sz="2200">
                <a:latin typeface="Times New Roman"/>
                <a:ea typeface="Times New Roman"/>
                <a:cs typeface="Times New Roman"/>
                <a:sym typeface="Times New Roman"/>
              </a:defRPr>
            </a:pPr>
            <a:r>
              <a:t>•Look for colleges near large teaching hospitals for better clinical exposure</a:t>
            </a:r>
          </a:p>
          <a:p>
            <a:pPr algn="just">
              <a:defRPr sz="2200">
                <a:latin typeface="Times New Roman"/>
                <a:ea typeface="Times New Roman"/>
                <a:cs typeface="Times New Roman"/>
                <a:sym typeface="Times New Roman"/>
              </a:defRPr>
            </a:pPr>
            <a:r>
              <a:t>Based on Established Year:</a:t>
            </a:r>
          </a:p>
          <a:p>
            <a:pPr algn="just">
              <a:defRPr sz="2200">
                <a:latin typeface="Times New Roman"/>
                <a:ea typeface="Times New Roman"/>
                <a:cs typeface="Times New Roman"/>
                <a:sym typeface="Times New Roman"/>
              </a:defRPr>
            </a:pPr>
            <a:r>
              <a:t>•Prefer older colleges (established before 1990) as they typically have:</a:t>
            </a:r>
          </a:p>
          <a:p>
            <a:pPr algn="just">
              <a:defRPr sz="2200">
                <a:latin typeface="Times New Roman"/>
                <a:ea typeface="Times New Roman"/>
                <a:cs typeface="Times New Roman"/>
                <a:sym typeface="Times New Roman"/>
              </a:defRPr>
            </a:pPr>
            <a:r>
              <a:t>•Better infrastructure and experienced faculty</a:t>
            </a:r>
          </a:p>
          <a:p>
            <a:pPr algn="just">
              <a:defRPr sz="2200">
                <a:latin typeface="Times New Roman"/>
                <a:ea typeface="Times New Roman"/>
                <a:cs typeface="Times New Roman"/>
                <a:sym typeface="Times New Roman"/>
              </a:defRPr>
            </a:pPr>
            <a:r>
              <a:t>•Stronger alumni networks</a:t>
            </a:r>
          </a:p>
          <a:p>
            <a:pPr algn="just">
              <a:defRPr sz="2200">
                <a:latin typeface="Times New Roman"/>
                <a:ea typeface="Times New Roman"/>
                <a:cs typeface="Times New Roman"/>
                <a:sym typeface="Times New Roman"/>
              </a:defRPr>
            </a:pPr>
            <a:r>
              <a:t>•Higher recognition and reputation</a:t>
            </a:r>
          </a:p>
          <a:p>
            <a:pPr algn="just">
              <a:defRPr sz="2200">
                <a:latin typeface="Times New Roman"/>
                <a:ea typeface="Times New Roman"/>
                <a:cs typeface="Times New Roman"/>
                <a:sym typeface="Times New Roman"/>
              </a:defRPr>
            </a:pPr>
            <a:r>
              <a:t>•Newer colleges (after 2010) may have modern facilities but less proven track record</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Based on Ownership:…"/>
          <p:cNvSpPr txBox="1"/>
          <p:nvPr/>
        </p:nvSpPr>
        <p:spPr>
          <a:xfrm>
            <a:off x="265948" y="331744"/>
            <a:ext cx="11418311" cy="437217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just">
              <a:defRPr sz="2200">
                <a:latin typeface="Times New Roman"/>
                <a:ea typeface="Times New Roman"/>
                <a:cs typeface="Times New Roman"/>
                <a:sym typeface="Times New Roman"/>
              </a:defRPr>
            </a:pPr>
            <a:r>
              <a:t>Based on Ownership:</a:t>
            </a:r>
          </a:p>
          <a:p>
            <a:pPr algn="just">
              <a:defRPr sz="2200">
                <a:latin typeface="Times New Roman"/>
                <a:ea typeface="Times New Roman"/>
                <a:cs typeface="Times New Roman"/>
                <a:sym typeface="Times New Roman"/>
              </a:defRPr>
            </a:pPr>
            <a:r>
              <a:t>•Government colleges: Lower fees, better recognition, highly competitive (need high NEET ranks)</a:t>
            </a:r>
          </a:p>
          <a:p>
            <a:pPr algn="just">
              <a:defRPr sz="2200">
                <a:latin typeface="Times New Roman"/>
                <a:ea typeface="Times New Roman"/>
                <a:cs typeface="Times New Roman"/>
                <a:sym typeface="Times New Roman"/>
              </a:defRPr>
            </a:pPr>
            <a:r>
              <a:t>•Private colleges: Higher fees but easier admission, check if they’re well-established or new</a:t>
            </a:r>
          </a:p>
          <a:p>
            <a:pPr algn="just">
              <a:defRPr sz="2200">
                <a:latin typeface="Times New Roman"/>
                <a:ea typeface="Times New Roman"/>
                <a:cs typeface="Times New Roman"/>
                <a:sym typeface="Times New Roman"/>
              </a:defRPr>
            </a:pPr>
            <a:r>
              <a:t>•Trust/Deemed colleges: Balance between government and private; research their placement and reputation</a:t>
            </a:r>
          </a:p>
          <a:p>
            <a:pPr algn="just">
              <a:defRPr sz="2200">
                <a:latin typeface="Times New Roman"/>
                <a:ea typeface="Times New Roman"/>
                <a:cs typeface="Times New Roman"/>
                <a:sym typeface="Times New Roman"/>
              </a:defRPr>
            </a:pPr>
            <a:r>
              <a:t>Based on Affiliated University:</a:t>
            </a:r>
          </a:p>
          <a:p>
            <a:pPr algn="just">
              <a:defRPr sz="2200">
                <a:latin typeface="Times New Roman"/>
                <a:ea typeface="Times New Roman"/>
                <a:cs typeface="Times New Roman"/>
                <a:sym typeface="Times New Roman"/>
              </a:defRPr>
            </a:pPr>
            <a:r>
              <a:t>•Choose colleges affiliated with reputable universities (e.g., RGUHS, AIIMS, DU, MGM, TN Medical University) as they have:</a:t>
            </a:r>
          </a:p>
          <a:p>
            <a:pPr algn="just">
              <a:defRPr sz="2200">
                <a:latin typeface="Times New Roman"/>
                <a:ea typeface="Times New Roman"/>
                <a:cs typeface="Times New Roman"/>
                <a:sym typeface="Times New Roman"/>
              </a:defRPr>
            </a:pPr>
            <a:r>
              <a:t>•Better curriculum standards</a:t>
            </a:r>
          </a:p>
          <a:p>
            <a:pPr algn="just">
              <a:defRPr sz="2200">
                <a:latin typeface="Times New Roman"/>
                <a:ea typeface="Times New Roman"/>
                <a:cs typeface="Times New Roman"/>
                <a:sym typeface="Times New Roman"/>
              </a:defRPr>
            </a:pPr>
            <a:r>
              <a:t>•Recognized degrees</a:t>
            </a:r>
          </a:p>
          <a:p>
            <a:pPr algn="just">
              <a:defRPr sz="2200">
                <a:latin typeface="Times New Roman"/>
                <a:ea typeface="Times New Roman"/>
                <a:cs typeface="Times New Roman"/>
                <a:sym typeface="Times New Roman"/>
              </a:defRPr>
            </a:pPr>
            <a:r>
              <a:t>•Stronger examination and evaluation systems</a:t>
            </a:r>
          </a:p>
          <a:p>
            <a:pPr algn="just">
              <a:defRPr sz="2200">
                <a:latin typeface="Times New Roman"/>
                <a:ea typeface="Times New Roman"/>
                <a:cs typeface="Times New Roman"/>
                <a:sym typeface="Times New Roman"/>
              </a:defRPr>
            </a:pPr>
            <a:r>
              <a:t>•Verify the university’s recognition by NMC (National Medical Commission) before enrolling</a:t>
            </a:r>
          </a:p>
          <a:p>
            <a:pPr algn="just">
              <a:defRPr sz="2200">
                <a:latin typeface="Times New Roman"/>
                <a:ea typeface="Times New Roman"/>
                <a:cs typeface="Times New Roman"/>
                <a:sym typeface="Times New Roman"/>
              </a:defRPr>
            </a:pPr>
            <a:r>
              <a:t>•Preferring universities with good placement records and hospital tie-ups</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Conclusion"/>
          <p:cNvSpPr txBox="1"/>
          <p:nvPr/>
        </p:nvSpPr>
        <p:spPr>
          <a:xfrm>
            <a:off x="500279" y="335415"/>
            <a:ext cx="2631563" cy="653911"/>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lnSpc>
                <a:spcPct val="90000"/>
              </a:lnSpc>
              <a:defRPr b="1" sz="4400" u="sng">
                <a:solidFill>
                  <a:srgbClr val="FF0000"/>
                </a:solidFill>
                <a:latin typeface="Calibri"/>
                <a:ea typeface="Calibri"/>
                <a:cs typeface="Calibri"/>
                <a:sym typeface="Calibri"/>
              </a:defRPr>
            </a:lvl1pPr>
          </a:lstStyle>
          <a:p>
            <a:pPr/>
            <a:r>
              <a:t>Conclusion</a:t>
            </a:r>
          </a:p>
        </p:txBody>
      </p:sp>
      <p:sp>
        <p:nvSpPr>
          <p:cNvPr id="198" name="Choose a medical college by prioritizing metro cities (Hyderabad, Delhi, Mumbai, Bangalore, Chennai) for better clinical exposure and internships, while considering personal comfort and budget. Verify the college is in an accessible, safe location near l"/>
          <p:cNvSpPr txBox="1"/>
          <p:nvPr/>
        </p:nvSpPr>
        <p:spPr>
          <a:xfrm>
            <a:off x="584658" y="1844674"/>
            <a:ext cx="11022685" cy="325511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just" defTabSz="457200">
              <a:spcBef>
                <a:spcPts val="1200"/>
              </a:spcBef>
              <a:defRPr sz="2100">
                <a:latin typeface="Times New Roman"/>
                <a:ea typeface="Times New Roman"/>
                <a:cs typeface="Times New Roman"/>
                <a:sym typeface="Times New Roman"/>
              </a:defRPr>
            </a:lvl1pPr>
          </a:lstStyle>
          <a:p>
            <a:pPr/>
            <a:r>
              <a:t>Choose a medical college by prioritizing metro cities (Hyderabad, Delhi, Mumbai, Bangalore, Chennai) for better clinical exposure and internships, while considering personal comfort and budget. Verify the college is in an accessible, safe location near large teaching hospitals. Prefer older colleges (pre-1990) for proven infrastructure, experienced faculty, and strong reputation. Balance ownership types: government colleges offer low fees but require high NEET ranks; private colleges have easier admission but higher fees; trust/deemed colleges provide a middle ground. Finally, select colleges affiliated with reputed, NMC-recognized universities (RGUHS, AIIMS, DU, MGM, TN Medical) for better curriculum, recognized degrees, and strong placement records. The ideal choice combines an established college in a metro city near a hospital with a reputable university affiliation that fits your budget and preferences.</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TextBox 2"/>
          <p:cNvSpPr txBox="1"/>
          <p:nvPr/>
        </p:nvSpPr>
        <p:spPr>
          <a:xfrm>
            <a:off x="3706731" y="1269157"/>
            <a:ext cx="6002286" cy="26187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16600" u="sng">
                <a:solidFill>
                  <a:srgbClr val="FF0000"/>
                </a:solidFill>
                <a:latin typeface="Algerian"/>
                <a:ea typeface="Algerian"/>
                <a:cs typeface="Algerian"/>
                <a:sym typeface="Algerian"/>
              </a:defRPr>
            </a:pPr>
            <a:r>
              <a:t>Q</a:t>
            </a:r>
            <a:r>
              <a:rPr>
                <a:solidFill>
                  <a:srgbClr val="000000"/>
                </a:solidFill>
              </a:rPr>
              <a:t>&amp;</a:t>
            </a:r>
            <a:r>
              <a:t>A</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2" name="Google Shape;116;p5" descr="Google Shape;116;p5"/>
          <p:cNvPicPr>
            <a:picLocks noChangeAspect="1"/>
          </p:cNvPicPr>
          <p:nvPr/>
        </p:nvPicPr>
        <p:blipFill>
          <a:blip r:embed="rId2">
            <a:extLst/>
          </a:blip>
          <a:stretch>
            <a:fillRect/>
          </a:stretch>
        </p:blipFill>
        <p:spPr>
          <a:xfrm>
            <a:off x="6096000" y="1535321"/>
            <a:ext cx="4465643" cy="2834319"/>
          </a:xfrm>
          <a:prstGeom prst="rect">
            <a:avLst/>
          </a:prstGeom>
          <a:ln w="12700">
            <a:miter lim="400000"/>
          </a:ln>
        </p:spPr>
      </p:pic>
      <p:sp>
        <p:nvSpPr>
          <p:cNvPr id="203" name="TextBox 4"/>
          <p:cNvSpPr txBox="1"/>
          <p:nvPr/>
        </p:nvSpPr>
        <p:spPr>
          <a:xfrm>
            <a:off x="1932522" y="2718966"/>
            <a:ext cx="2348099" cy="11836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3600">
                <a:solidFill>
                  <a:srgbClr val="C00000"/>
                </a:solidFill>
                <a:latin typeface="Libre Baskerville"/>
                <a:ea typeface="Libre Baskerville"/>
                <a:cs typeface="Libre Baskerville"/>
                <a:sym typeface="Libre Baskerville"/>
              </a:defRPr>
            </a:lvl1pPr>
          </a:lstStyle>
          <a:p>
            <a:pPr/>
            <a:r>
              <a:t>THANK YOU</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mph" nodeType="afterEffect" presetSubtype="0" presetID="32" grpId="1" fill="hold">
                                  <p:stCondLst>
                                    <p:cond delay="0"/>
                                  </p:stCondLst>
                                  <p:childTnLst>
                                    <p:animRot by="300000">
                                      <p:cBhvr>
                                        <p:cTn id="6" dur="80" fill="hold">
                                          <p:stCondLst>
                                            <p:cond delay="0"/>
                                          </p:stCondLst>
                                        </p:cTn>
                                        <p:tgtEl>
                                          <p:spTgt spid="202"/>
                                        </p:tgtEl>
                                        <p:attrNameLst>
                                          <p:attrName>r</p:attrName>
                                        </p:attrNameLst>
                                      </p:cBhvr>
                                    </p:animRot>
                                    <p:animRot by="-600000">
                                      <p:cBhvr>
                                        <p:cTn id="7" dur="160" fill="hold">
                                          <p:stCondLst>
                                            <p:cond delay="160"/>
                                          </p:stCondLst>
                                        </p:cTn>
                                        <p:tgtEl>
                                          <p:spTgt spid="202"/>
                                        </p:tgtEl>
                                        <p:attrNameLst>
                                          <p:attrName>r</p:attrName>
                                        </p:attrNameLst>
                                      </p:cBhvr>
                                    </p:animRot>
                                    <p:animRot by="600000">
                                      <p:cBhvr>
                                        <p:cTn id="8" dur="160" fill="hold">
                                          <p:stCondLst>
                                            <p:cond delay="320"/>
                                          </p:stCondLst>
                                        </p:cTn>
                                        <p:tgtEl>
                                          <p:spTgt spid="202"/>
                                        </p:tgtEl>
                                        <p:attrNameLst>
                                          <p:attrName>r</p:attrName>
                                        </p:attrNameLst>
                                      </p:cBhvr>
                                    </p:animRot>
                                    <p:animRot by="-600000">
                                      <p:cBhvr>
                                        <p:cTn id="9" dur="160" fill="hold">
                                          <p:stCondLst>
                                            <p:cond delay="480"/>
                                          </p:stCondLst>
                                        </p:cTn>
                                        <p:tgtEl>
                                          <p:spTgt spid="202"/>
                                        </p:tgtEl>
                                        <p:attrNameLst>
                                          <p:attrName>r</p:attrName>
                                        </p:attrNameLst>
                                      </p:cBhvr>
                                    </p:animRot>
                                    <p:animRot by="300000">
                                      <p:cBhvr>
                                        <p:cTn id="10" dur="160" fill="hold">
                                          <p:stCondLst>
                                            <p:cond delay="640"/>
                                          </p:stCondLst>
                                        </p:cTn>
                                        <p:tgtEl>
                                          <p:spTgt spid="202"/>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02" grpId="1"/>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